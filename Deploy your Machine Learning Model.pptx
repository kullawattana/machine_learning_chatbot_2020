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0"/>
  </p:normalViewPr>
  <p:slideViewPr>
    <p:cSldViewPr snapToGrid="0" snapToObjects="1">
      <p:cViewPr varScale="1">
        <p:scale>
          <a:sx n="107" d="100"/>
          <a:sy n="107" d="100"/>
        </p:scale>
        <p:origin x="73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7FDA-0E6D-C645-AFDE-F7B6CE6D28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9DE87233-35A2-F749-8568-61A4393E76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A88EEEED-6ED3-684B-9449-469A5BD0495A}"/>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5" name="Footer Placeholder 4">
            <a:extLst>
              <a:ext uri="{FF2B5EF4-FFF2-40B4-BE49-F238E27FC236}">
                <a16:creationId xmlns:a16="http://schemas.microsoft.com/office/drawing/2014/main" id="{0E1E016D-0CCE-1B47-8227-EE7C7A2B1393}"/>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781E1B95-94DA-4D4E-A81F-E4B1653BE020}"/>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2271275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5D88-A9A9-5D4C-A280-6DD11E29B64D}"/>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4F3A4233-B65D-5E49-980F-D84E9A88AB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BB0CC5F0-C4A0-0D4A-8D3D-2E5C00772B0A}"/>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5" name="Footer Placeholder 4">
            <a:extLst>
              <a:ext uri="{FF2B5EF4-FFF2-40B4-BE49-F238E27FC236}">
                <a16:creationId xmlns:a16="http://schemas.microsoft.com/office/drawing/2014/main" id="{37F7F712-5902-5241-BEEF-356197E7AC52}"/>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BE5AF191-CBF4-064B-9766-2DBF77E3C7D3}"/>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3260796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4146D-82BE-B245-9CB7-9FECE29652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34D8257B-F133-AA4B-8440-44B8397FE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74E56E-75BE-4E4D-87F6-AA1F422A5152}"/>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5" name="Footer Placeholder 4">
            <a:extLst>
              <a:ext uri="{FF2B5EF4-FFF2-40B4-BE49-F238E27FC236}">
                <a16:creationId xmlns:a16="http://schemas.microsoft.com/office/drawing/2014/main" id="{A2D8DB36-8574-2547-A5CB-4C97F9D4532C}"/>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5FF14916-454D-CD48-BD51-12DF751A6B6A}"/>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729939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135B-0B26-624C-AB5C-A55F64B2CF9C}"/>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AB0C1CBC-1080-D04B-8654-BF31539DA1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524D96A4-6C62-3141-AED9-7299110264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8E75700E-859B-9B45-AE4A-583FE5D67F81}"/>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6" name="Footer Placeholder 5">
            <a:extLst>
              <a:ext uri="{FF2B5EF4-FFF2-40B4-BE49-F238E27FC236}">
                <a16:creationId xmlns:a16="http://schemas.microsoft.com/office/drawing/2014/main" id="{E7FDD8EA-8BA8-8C41-81C0-4E1A2CFFE574}"/>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35052EC6-F162-1149-8342-D3D1DC6B30DF}"/>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1325836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6A54-44F4-A84B-8BF0-4E31C7D3B037}"/>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91AD0DF2-69AB-5147-AF8A-1234C81737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76044F-AA55-834A-925E-93ADB027E1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2A4A6816-9496-E440-BA59-5DE6CBBC1E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DF3EC-700E-214A-9943-262F8DEE1E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AC46B2A5-9226-A240-B058-0EA7D01B7AE6}"/>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8" name="Footer Placeholder 7">
            <a:extLst>
              <a:ext uri="{FF2B5EF4-FFF2-40B4-BE49-F238E27FC236}">
                <a16:creationId xmlns:a16="http://schemas.microsoft.com/office/drawing/2014/main" id="{17E2A604-3428-704D-98B3-B7A1E870A1D9}"/>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544DED4A-D269-D54D-9ECC-DF4EBDADAE09}"/>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1531459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49E7-AFC7-504E-968D-FC1FB4BB09FF}"/>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4BA2A1A7-1110-6843-A754-3F004BA93D09}"/>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4" name="Footer Placeholder 3">
            <a:extLst>
              <a:ext uri="{FF2B5EF4-FFF2-40B4-BE49-F238E27FC236}">
                <a16:creationId xmlns:a16="http://schemas.microsoft.com/office/drawing/2014/main" id="{8BA864DC-B94E-4A42-A5BD-65247C4CF3DB}"/>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CB5B4EA2-A96C-554A-840C-05B52349269B}"/>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1762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31F6C-6345-BF41-A4D3-76C5A586BFE6}"/>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3" name="Footer Placeholder 2">
            <a:extLst>
              <a:ext uri="{FF2B5EF4-FFF2-40B4-BE49-F238E27FC236}">
                <a16:creationId xmlns:a16="http://schemas.microsoft.com/office/drawing/2014/main" id="{7F5C03F2-C975-7B45-96FD-3709103FD2AC}"/>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3E758834-90D8-B247-BC48-031A79AF3DDC}"/>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302768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8BA23-2B74-274E-BEC9-19F0DE846D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C8CB955F-D4AF-F34C-BBFE-1D2E5403B8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0A022C8C-ACFF-D749-B99E-F324E744A7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C64762-E1CE-5145-8BD2-9C382C2B6285}"/>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6" name="Footer Placeholder 5">
            <a:extLst>
              <a:ext uri="{FF2B5EF4-FFF2-40B4-BE49-F238E27FC236}">
                <a16:creationId xmlns:a16="http://schemas.microsoft.com/office/drawing/2014/main" id="{EF9D1747-F67F-5946-AA44-4597866308F7}"/>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B8029BE3-C28D-5C48-85F4-BC4052A9BC34}"/>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3365587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D0F1E-337A-6D4C-817A-0065C20D2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2349B46D-F409-0644-B419-AA385CFD5D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085B1D52-22B8-D048-9AB8-EDEB91061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475F23-54B1-FD42-BAD0-6FDDC21B2CC2}"/>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6" name="Footer Placeholder 5">
            <a:extLst>
              <a:ext uri="{FF2B5EF4-FFF2-40B4-BE49-F238E27FC236}">
                <a16:creationId xmlns:a16="http://schemas.microsoft.com/office/drawing/2014/main" id="{6F881FAD-A882-234F-98FC-C33CBE085E2C}"/>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45F3372D-36E0-6D47-BC67-6A099A0E358B}"/>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3733190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2F38A-1393-2449-B554-F25C392B91FD}"/>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580B9414-CD4A-F940-BDFD-9DB9B33628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90F4051A-61E9-F04D-8FA6-CC216D647F8A}"/>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5" name="Footer Placeholder 4">
            <a:extLst>
              <a:ext uri="{FF2B5EF4-FFF2-40B4-BE49-F238E27FC236}">
                <a16:creationId xmlns:a16="http://schemas.microsoft.com/office/drawing/2014/main" id="{A1D9BCBA-7B3E-4243-BEC6-AF1E47EEB03D}"/>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0790A712-BC6D-814F-9DF0-133BF05CFC90}"/>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2956322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1269D-E6E8-EB49-8445-11B1C01F3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F7E106AD-3F00-8B4A-84E1-2F20E55F7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E4A972FF-7D7B-A24B-87FD-7BA6323A1777}"/>
              </a:ext>
            </a:extLst>
          </p:cNvPr>
          <p:cNvSpPr>
            <a:spLocks noGrp="1"/>
          </p:cNvSpPr>
          <p:nvPr>
            <p:ph type="dt" sz="half" idx="10"/>
          </p:nvPr>
        </p:nvSpPr>
        <p:spPr/>
        <p:txBody>
          <a:bodyPr/>
          <a:lstStyle/>
          <a:p>
            <a:fld id="{8EC9D48C-263C-2348-B644-9937AA1CE6DE}" type="datetimeFigureOut">
              <a:rPr lang="en-TH" smtClean="0"/>
              <a:t>27/12/2020 R</a:t>
            </a:fld>
            <a:endParaRPr lang="en-TH"/>
          </a:p>
        </p:txBody>
      </p:sp>
      <p:sp>
        <p:nvSpPr>
          <p:cNvPr id="5" name="Footer Placeholder 4">
            <a:extLst>
              <a:ext uri="{FF2B5EF4-FFF2-40B4-BE49-F238E27FC236}">
                <a16:creationId xmlns:a16="http://schemas.microsoft.com/office/drawing/2014/main" id="{4EC3A1D7-26CE-7640-ABC8-64E92EBCF44F}"/>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698938D8-5030-C441-9F98-29794FA18212}"/>
              </a:ext>
            </a:extLst>
          </p:cNvPr>
          <p:cNvSpPr>
            <a:spLocks noGrp="1"/>
          </p:cNvSpPr>
          <p:nvPr>
            <p:ph type="sldNum" sz="quarter" idx="12"/>
          </p:nvPr>
        </p:nvSpPr>
        <p:spPr/>
        <p:txBody>
          <a:bodyPr/>
          <a:lstStyle/>
          <a:p>
            <a:fld id="{7E3B78C0-2367-D64D-A3A6-981F1A78C43A}" type="slidenum">
              <a:rPr lang="en-TH" smtClean="0"/>
              <a:t>‹#›</a:t>
            </a:fld>
            <a:endParaRPr lang="en-TH"/>
          </a:p>
        </p:txBody>
      </p:sp>
    </p:spTree>
    <p:extLst>
      <p:ext uri="{BB962C8B-B14F-4D97-AF65-F5344CB8AC3E}">
        <p14:creationId xmlns:p14="http://schemas.microsoft.com/office/powerpoint/2010/main" val="206347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1178DE-1B7E-6646-8442-B1C21068E7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5B551471-7D20-0949-8776-CA0949AD67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8BC8F79F-02DE-9D48-AE95-4F9AFF5864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C9D48C-263C-2348-B644-9937AA1CE6DE}" type="datetimeFigureOut">
              <a:rPr lang="en-TH" smtClean="0"/>
              <a:t>27/12/2020 R</a:t>
            </a:fld>
            <a:endParaRPr lang="en-TH"/>
          </a:p>
        </p:txBody>
      </p:sp>
      <p:sp>
        <p:nvSpPr>
          <p:cNvPr id="5" name="Footer Placeholder 4">
            <a:extLst>
              <a:ext uri="{FF2B5EF4-FFF2-40B4-BE49-F238E27FC236}">
                <a16:creationId xmlns:a16="http://schemas.microsoft.com/office/drawing/2014/main" id="{C8BB5015-A851-F947-9524-260A2D57D9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H"/>
          </a:p>
        </p:txBody>
      </p:sp>
      <p:sp>
        <p:nvSpPr>
          <p:cNvPr id="6" name="Slide Number Placeholder 5">
            <a:extLst>
              <a:ext uri="{FF2B5EF4-FFF2-40B4-BE49-F238E27FC236}">
                <a16:creationId xmlns:a16="http://schemas.microsoft.com/office/drawing/2014/main" id="{5B9CEE9F-0D7F-E645-B226-81F951F900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B78C0-2367-D64D-A3A6-981F1A78C43A}" type="slidenum">
              <a:rPr lang="en-TH" smtClean="0"/>
              <a:t>‹#›</a:t>
            </a:fld>
            <a:endParaRPr lang="en-TH"/>
          </a:p>
        </p:txBody>
      </p:sp>
    </p:spTree>
    <p:extLst>
      <p:ext uri="{BB962C8B-B14F-4D97-AF65-F5344CB8AC3E}">
        <p14:creationId xmlns:p14="http://schemas.microsoft.com/office/powerpoint/2010/main" val="686883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medium.com/datadriveninvestor/deploy-your-machine-learning-model-using-flask-made-easy-now-635d2f12c50c" TargetMode="External"/><Relationship Id="rId2" Type="http://schemas.openxmlformats.org/officeDocument/2006/relationships/hyperlink" Target="https://github.com/MaajidKhan/DeployMLModel-Flask" TargetMode="External"/><Relationship Id="rId1" Type="http://schemas.openxmlformats.org/officeDocument/2006/relationships/slideLayout" Target="../slideLayouts/slideLayout2.xml"/><Relationship Id="rId4" Type="http://schemas.openxmlformats.org/officeDocument/2006/relationships/hyperlink" Target="https://towardsdatascience.com/how-to-easily-deploy-machine-learning-models-using-flask-b95af8fe34d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0DAD35E9-D842-0842-A9E1-6C8211ACF387}"/>
              </a:ext>
            </a:extLst>
          </p:cNvPr>
          <p:cNvSpPr>
            <a:spLocks noGrp="1"/>
          </p:cNvSpPr>
          <p:nvPr>
            <p:ph type="ctrTitle"/>
          </p:nvPr>
        </p:nvSpPr>
        <p:spPr>
          <a:xfrm>
            <a:off x="3204642" y="1692289"/>
            <a:ext cx="5782716" cy="2150719"/>
          </a:xfrm>
          <a:noFill/>
        </p:spPr>
        <p:txBody>
          <a:bodyPr anchor="ctr">
            <a:normAutofit/>
          </a:bodyPr>
          <a:lstStyle/>
          <a:p>
            <a:r>
              <a:rPr lang="en-US" sz="3600" dirty="0">
                <a:solidFill>
                  <a:srgbClr val="080808"/>
                </a:solidFill>
              </a:rPr>
              <a:t>Deploy your Machine Learning Model using Flask</a:t>
            </a:r>
            <a:endParaRPr lang="en-TH" sz="3600" dirty="0">
              <a:solidFill>
                <a:srgbClr val="080808"/>
              </a:solidFill>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Image for post">
            <a:extLst>
              <a:ext uri="{FF2B5EF4-FFF2-40B4-BE49-F238E27FC236}">
                <a16:creationId xmlns:a16="http://schemas.microsoft.com/office/drawing/2014/main" id="{CA58CB35-7BDC-264C-80D2-2D5AFD566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2052" y="3380438"/>
            <a:ext cx="599440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97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8E216D-55A7-AF4F-9B7A-B018443E8E62}"/>
              </a:ext>
            </a:extLst>
          </p:cNvPr>
          <p:cNvSpPr>
            <a:spLocks noGrp="1"/>
          </p:cNvSpPr>
          <p:nvPr>
            <p:ph idx="1"/>
          </p:nvPr>
        </p:nvSpPr>
        <p:spPr>
          <a:xfrm>
            <a:off x="838200" y="1253331"/>
            <a:ext cx="10515600" cy="4351338"/>
          </a:xfrm>
        </p:spPr>
        <p:txBody>
          <a:bodyPr>
            <a:normAutofit lnSpcReduction="10000"/>
          </a:bodyPr>
          <a:lstStyle/>
          <a:p>
            <a:r>
              <a:rPr lang="en-US" dirty="0"/>
              <a:t>The easiest way of doing it is by deploying the model using flask. When we start learning machine learning, initially we do it by running a simple supervised learning model. The most important and the easiest one to understand and use is a </a:t>
            </a:r>
            <a:r>
              <a:rPr lang="en-US" b="1" dirty="0"/>
              <a:t>Regression model</a:t>
            </a:r>
            <a:r>
              <a:rPr lang="en-US" dirty="0"/>
              <a:t>. This blog is under the assumption that the person has a fair knowledge of running python code and is familiar with simple ML libraries like </a:t>
            </a:r>
            <a:r>
              <a:rPr lang="en-US" b="1" dirty="0"/>
              <a:t>Sci-kit Learn</a:t>
            </a:r>
            <a:r>
              <a:rPr lang="en-US" dirty="0"/>
              <a:t>, P</a:t>
            </a:r>
            <a:r>
              <a:rPr lang="en-US" b="1" dirty="0"/>
              <a:t>andas</a:t>
            </a:r>
            <a:r>
              <a:rPr lang="en-US" dirty="0"/>
              <a:t>, </a:t>
            </a:r>
            <a:r>
              <a:rPr lang="en-US" dirty="0" err="1"/>
              <a:t>N</a:t>
            </a:r>
            <a:r>
              <a:rPr lang="en-US" b="1" dirty="0" err="1"/>
              <a:t>umpy</a:t>
            </a:r>
            <a:r>
              <a:rPr lang="en-US" dirty="0"/>
              <a:t>.</a:t>
            </a:r>
          </a:p>
          <a:p>
            <a:r>
              <a:rPr lang="en-US" dirty="0"/>
              <a:t>Different users have different choices when it comes to the type of python IDE they want to use. Some of the popular IDE’s are </a:t>
            </a:r>
            <a:r>
              <a:rPr lang="en-US" b="1" dirty="0"/>
              <a:t>Spyder</a:t>
            </a:r>
            <a:r>
              <a:rPr lang="en-US" dirty="0"/>
              <a:t>, </a:t>
            </a:r>
            <a:r>
              <a:rPr lang="en-US" b="1" dirty="0" err="1"/>
              <a:t>Jupyter</a:t>
            </a:r>
            <a:r>
              <a:rPr lang="en-US" dirty="0"/>
              <a:t> Notebook, </a:t>
            </a:r>
            <a:r>
              <a:rPr lang="en-US" b="1" dirty="0"/>
              <a:t>PyCharm</a:t>
            </a:r>
            <a:r>
              <a:rPr lang="en-US" dirty="0"/>
              <a:t> editor or you can just run it on python compiler.</a:t>
            </a:r>
          </a:p>
        </p:txBody>
      </p:sp>
    </p:spTree>
    <p:extLst>
      <p:ext uri="{BB962C8B-B14F-4D97-AF65-F5344CB8AC3E}">
        <p14:creationId xmlns:p14="http://schemas.microsoft.com/office/powerpoint/2010/main" val="3407401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E2530-2B1C-8F4D-B63A-A7D96B26D7F4}"/>
              </a:ext>
            </a:extLst>
          </p:cNvPr>
          <p:cNvSpPr>
            <a:spLocks noGrp="1"/>
          </p:cNvSpPr>
          <p:nvPr>
            <p:ph idx="1"/>
          </p:nvPr>
        </p:nvSpPr>
        <p:spPr>
          <a:xfrm>
            <a:off x="481569" y="1253331"/>
            <a:ext cx="6583878" cy="4351338"/>
          </a:xfrm>
        </p:spPr>
        <p:txBody>
          <a:bodyPr>
            <a:normAutofit fontScale="62500" lnSpcReduction="20000"/>
          </a:bodyPr>
          <a:lstStyle/>
          <a:p>
            <a:r>
              <a:rPr lang="en-US" dirty="0"/>
              <a:t>In this post, we will be building a simple regression model using </a:t>
            </a:r>
            <a:r>
              <a:rPr lang="en-US" b="1" dirty="0"/>
              <a:t>scikit-</a:t>
            </a:r>
            <a:r>
              <a:rPr lang="en-US" b="1" dirty="0" err="1"/>
              <a:t>learn’s</a:t>
            </a:r>
            <a:r>
              <a:rPr lang="en-US" dirty="0"/>
              <a:t> built-in </a:t>
            </a:r>
            <a:r>
              <a:rPr lang="en-US" b="1" dirty="0" err="1"/>
              <a:t>LinearRegression</a:t>
            </a:r>
            <a:r>
              <a:rPr lang="en-US" b="1" dirty="0"/>
              <a:t>()</a:t>
            </a:r>
            <a:r>
              <a:rPr lang="en-US" dirty="0"/>
              <a:t> function. First, let us have a look at how our data looks.</a:t>
            </a:r>
          </a:p>
          <a:p>
            <a:r>
              <a:rPr lang="en-US" dirty="0"/>
              <a:t>It’s a very simple data set with 4 attributes and 8 rows. All the columns are numerical columns, so we need to do any data pruning or cleaning up the data to convert categorical data into numerical before you build your classifier (regression model). This data used here is clean and is ready to be applied for a classifier.</a:t>
            </a:r>
          </a:p>
          <a:p>
            <a:r>
              <a:rPr lang="en-US" dirty="0"/>
              <a:t>Normally, you have to first clean up your data like filling up empty values in your data set, converting your categorical data into numerical data, normalization, </a:t>
            </a:r>
            <a:r>
              <a:rPr lang="en-US" dirty="0" err="1"/>
              <a:t>etc</a:t>
            </a:r>
            <a:r>
              <a:rPr lang="en-US" dirty="0"/>
              <a:t>; as part of our data cleaning and pruning. But this blog purpose is mainly serving the purpose of deploying the model using flask, so we have considered simpler data which is already clean and requires no further pre-processing.</a:t>
            </a:r>
          </a:p>
          <a:p>
            <a:r>
              <a:rPr lang="en-US" dirty="0"/>
              <a:t>Here, the class label will be the last salary column, which we will be predicting using our model. After our model is built, we will be saving our trained model using a library called pickle.</a:t>
            </a:r>
          </a:p>
        </p:txBody>
      </p:sp>
      <p:pic>
        <p:nvPicPr>
          <p:cNvPr id="8" name="Picture 7" descr="Table&#10;&#10;Description automatically generated with medium confidence">
            <a:extLst>
              <a:ext uri="{FF2B5EF4-FFF2-40B4-BE49-F238E27FC236}">
                <a16:creationId xmlns:a16="http://schemas.microsoft.com/office/drawing/2014/main" id="{8B38179F-EC15-9C46-A006-D76585A43DB2}"/>
              </a:ext>
            </a:extLst>
          </p:cNvPr>
          <p:cNvPicPr>
            <a:picLocks noChangeAspect="1"/>
          </p:cNvPicPr>
          <p:nvPr/>
        </p:nvPicPr>
        <p:blipFill>
          <a:blip r:embed="rId2"/>
          <a:stretch>
            <a:fillRect/>
          </a:stretch>
        </p:blipFill>
        <p:spPr>
          <a:xfrm>
            <a:off x="7329612" y="1894320"/>
            <a:ext cx="4724400" cy="2794000"/>
          </a:xfrm>
          <a:prstGeom prst="rect">
            <a:avLst/>
          </a:prstGeom>
        </p:spPr>
      </p:pic>
    </p:spTree>
    <p:extLst>
      <p:ext uri="{BB962C8B-B14F-4D97-AF65-F5344CB8AC3E}">
        <p14:creationId xmlns:p14="http://schemas.microsoft.com/office/powerpoint/2010/main" val="1392473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9DED9-496E-6046-9B84-C0475FF403F0}"/>
              </a:ext>
            </a:extLst>
          </p:cNvPr>
          <p:cNvSpPr>
            <a:spLocks noGrp="1"/>
          </p:cNvSpPr>
          <p:nvPr>
            <p:ph type="title"/>
          </p:nvPr>
        </p:nvSpPr>
        <p:spPr/>
        <p:txBody>
          <a:bodyPr/>
          <a:lstStyle/>
          <a:p>
            <a:r>
              <a:rPr lang="en-US" b="1" dirty="0"/>
              <a:t>Pickle</a:t>
            </a:r>
            <a:endParaRPr lang="en-TH" dirty="0"/>
          </a:p>
        </p:txBody>
      </p:sp>
      <p:sp>
        <p:nvSpPr>
          <p:cNvPr id="3" name="Content Placeholder 2">
            <a:extLst>
              <a:ext uri="{FF2B5EF4-FFF2-40B4-BE49-F238E27FC236}">
                <a16:creationId xmlns:a16="http://schemas.microsoft.com/office/drawing/2014/main" id="{EC877077-0412-764B-8001-8FD880B45EEC}"/>
              </a:ext>
            </a:extLst>
          </p:cNvPr>
          <p:cNvSpPr>
            <a:spLocks noGrp="1"/>
          </p:cNvSpPr>
          <p:nvPr>
            <p:ph idx="1"/>
          </p:nvPr>
        </p:nvSpPr>
        <p:spPr/>
        <p:txBody>
          <a:bodyPr/>
          <a:lstStyle/>
          <a:p>
            <a:r>
              <a:rPr lang="en-US" dirty="0"/>
              <a:t>Python pickle module is used for serializing and de-serializing a Python object structure. Any object in Python can be pickled so that it can be saved on disk. What pickle does is that it “serializes” the object first before writing it to file. Pickling is a way to convert a python object (list, </a:t>
            </a:r>
            <a:r>
              <a:rPr lang="en-US" dirty="0" err="1"/>
              <a:t>dict</a:t>
            </a:r>
            <a:r>
              <a:rPr lang="en-US" dirty="0"/>
              <a:t>, etc.) into a character stream. The idea is that this character stream contains all the information necessary to reconstruct the object in another python script.</a:t>
            </a:r>
          </a:p>
          <a:p>
            <a:r>
              <a:rPr lang="en-US" dirty="0"/>
              <a:t>Here’s the code of building a simple regression model and then saving the model by serializing it using pickle.</a:t>
            </a:r>
          </a:p>
          <a:p>
            <a:endParaRPr lang="en-TH" dirty="0"/>
          </a:p>
        </p:txBody>
      </p:sp>
    </p:spTree>
    <p:extLst>
      <p:ext uri="{BB962C8B-B14F-4D97-AF65-F5344CB8AC3E}">
        <p14:creationId xmlns:p14="http://schemas.microsoft.com/office/powerpoint/2010/main" val="217020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for post">
            <a:extLst>
              <a:ext uri="{FF2B5EF4-FFF2-40B4-BE49-F238E27FC236}">
                <a16:creationId xmlns:a16="http://schemas.microsoft.com/office/drawing/2014/main" id="{A18AB249-A09F-FE4B-9CE7-97591B6A6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3300" y="1181100"/>
            <a:ext cx="7645400"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334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0D3984-A838-F840-9D96-B78F31715A76}"/>
              </a:ext>
            </a:extLst>
          </p:cNvPr>
          <p:cNvSpPr>
            <a:spLocks noGrp="1"/>
          </p:cNvSpPr>
          <p:nvPr>
            <p:ph idx="1"/>
          </p:nvPr>
        </p:nvSpPr>
        <p:spPr>
          <a:xfrm>
            <a:off x="838200" y="668337"/>
            <a:ext cx="10515600" cy="1460501"/>
          </a:xfrm>
        </p:spPr>
        <p:txBody>
          <a:bodyPr/>
          <a:lstStyle/>
          <a:p>
            <a:r>
              <a:rPr lang="en-US" dirty="0"/>
              <a:t>When you run this, your model is now trained and your model gets saved in the directory where your project files are stored in your local machine.</a:t>
            </a:r>
            <a:endParaRPr lang="en-TH" dirty="0"/>
          </a:p>
        </p:txBody>
      </p:sp>
      <p:pic>
        <p:nvPicPr>
          <p:cNvPr id="3074" name="Picture 2" descr="Image for post">
            <a:extLst>
              <a:ext uri="{FF2B5EF4-FFF2-40B4-BE49-F238E27FC236}">
                <a16:creationId xmlns:a16="http://schemas.microsoft.com/office/drawing/2014/main" id="{FF44A254-2DE6-7C4C-9AA6-34B640A54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3300" y="2500312"/>
            <a:ext cx="76454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47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F278-D4AC-654F-8A6A-2FE2D21BDC5B}"/>
              </a:ext>
            </a:extLst>
          </p:cNvPr>
          <p:cNvSpPr>
            <a:spLocks noGrp="1"/>
          </p:cNvSpPr>
          <p:nvPr>
            <p:ph type="title"/>
          </p:nvPr>
        </p:nvSpPr>
        <p:spPr/>
        <p:txBody>
          <a:bodyPr/>
          <a:lstStyle/>
          <a:p>
            <a:r>
              <a:rPr lang="en-US" b="1" dirty="0"/>
              <a:t>Setting up flask-app over the localhost:</a:t>
            </a:r>
            <a:endParaRPr lang="en-TH" dirty="0"/>
          </a:p>
        </p:txBody>
      </p:sp>
      <p:pic>
        <p:nvPicPr>
          <p:cNvPr id="5" name="Picture 4" descr="Graphical user interface, text, application, email&#10;&#10;Description automatically generated">
            <a:extLst>
              <a:ext uri="{FF2B5EF4-FFF2-40B4-BE49-F238E27FC236}">
                <a16:creationId xmlns:a16="http://schemas.microsoft.com/office/drawing/2014/main" id="{C6DED7F6-B529-EC4C-AFB3-C1821D82D83C}"/>
              </a:ext>
            </a:extLst>
          </p:cNvPr>
          <p:cNvPicPr>
            <a:picLocks noChangeAspect="1"/>
          </p:cNvPicPr>
          <p:nvPr/>
        </p:nvPicPr>
        <p:blipFill>
          <a:blip r:embed="rId2"/>
          <a:stretch>
            <a:fillRect/>
          </a:stretch>
        </p:blipFill>
        <p:spPr>
          <a:xfrm>
            <a:off x="2667000" y="1690688"/>
            <a:ext cx="6858000" cy="4546600"/>
          </a:xfrm>
          <a:prstGeom prst="rect">
            <a:avLst/>
          </a:prstGeom>
        </p:spPr>
      </p:pic>
    </p:spTree>
    <p:extLst>
      <p:ext uri="{BB962C8B-B14F-4D97-AF65-F5344CB8AC3E}">
        <p14:creationId xmlns:p14="http://schemas.microsoft.com/office/powerpoint/2010/main" val="341136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B164-F8A4-1F49-B104-7A0307E30464}"/>
              </a:ext>
            </a:extLst>
          </p:cNvPr>
          <p:cNvSpPr>
            <a:spLocks noGrp="1"/>
          </p:cNvSpPr>
          <p:nvPr>
            <p:ph type="title"/>
          </p:nvPr>
        </p:nvSpPr>
        <p:spPr/>
        <p:txBody>
          <a:bodyPr>
            <a:normAutofit/>
          </a:bodyPr>
          <a:lstStyle/>
          <a:p>
            <a:r>
              <a:rPr lang="en-US" sz="3000" b="1" dirty="0"/>
              <a:t>2. Redirecting the API to the home page </a:t>
            </a:r>
            <a:r>
              <a:rPr lang="en-US" sz="3000" b="1" dirty="0" err="1"/>
              <a:t>index.html</a:t>
            </a:r>
            <a:endParaRPr lang="en-TH" sz="3000" dirty="0"/>
          </a:p>
        </p:txBody>
      </p:sp>
      <p:pic>
        <p:nvPicPr>
          <p:cNvPr id="5" name="Picture 4" descr="Graphical user interface, text, application, email&#10;&#10;Description automatically generated">
            <a:extLst>
              <a:ext uri="{FF2B5EF4-FFF2-40B4-BE49-F238E27FC236}">
                <a16:creationId xmlns:a16="http://schemas.microsoft.com/office/drawing/2014/main" id="{D92CB01F-E04F-2344-BC4F-821ADC13C459}"/>
              </a:ext>
            </a:extLst>
          </p:cNvPr>
          <p:cNvPicPr>
            <a:picLocks noChangeAspect="1"/>
          </p:cNvPicPr>
          <p:nvPr/>
        </p:nvPicPr>
        <p:blipFill>
          <a:blip r:embed="rId2"/>
          <a:stretch>
            <a:fillRect/>
          </a:stretch>
        </p:blipFill>
        <p:spPr>
          <a:xfrm>
            <a:off x="1905000" y="1690688"/>
            <a:ext cx="8382000" cy="4521200"/>
          </a:xfrm>
          <a:prstGeom prst="rect">
            <a:avLst/>
          </a:prstGeom>
        </p:spPr>
      </p:pic>
    </p:spTree>
    <p:extLst>
      <p:ext uri="{BB962C8B-B14F-4D97-AF65-F5344CB8AC3E}">
        <p14:creationId xmlns:p14="http://schemas.microsoft.com/office/powerpoint/2010/main" val="224490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848A-B383-E146-9C73-36ABF44242C9}"/>
              </a:ext>
            </a:extLst>
          </p:cNvPr>
          <p:cNvSpPr>
            <a:spLocks noGrp="1"/>
          </p:cNvSpPr>
          <p:nvPr>
            <p:ph type="title"/>
          </p:nvPr>
        </p:nvSpPr>
        <p:spPr/>
        <p:txBody>
          <a:bodyPr>
            <a:normAutofit/>
          </a:bodyPr>
          <a:lstStyle/>
          <a:p>
            <a:r>
              <a:rPr lang="en-US" sz="3000" b="1" dirty="0"/>
              <a:t>3. Redirecting the API to predict the result (salary)</a:t>
            </a:r>
            <a:endParaRPr lang="en-TH" sz="3000" dirty="0"/>
          </a:p>
        </p:txBody>
      </p:sp>
      <p:pic>
        <p:nvPicPr>
          <p:cNvPr id="5" name="Picture 4" descr="Text, application&#10;&#10;Description automatically generated">
            <a:extLst>
              <a:ext uri="{FF2B5EF4-FFF2-40B4-BE49-F238E27FC236}">
                <a16:creationId xmlns:a16="http://schemas.microsoft.com/office/drawing/2014/main" id="{92577691-F8F8-2F48-B828-55BA16F5CBF7}"/>
              </a:ext>
            </a:extLst>
          </p:cNvPr>
          <p:cNvPicPr>
            <a:picLocks noChangeAspect="1"/>
          </p:cNvPicPr>
          <p:nvPr/>
        </p:nvPicPr>
        <p:blipFill>
          <a:blip r:embed="rId2"/>
          <a:stretch>
            <a:fillRect/>
          </a:stretch>
        </p:blipFill>
        <p:spPr>
          <a:xfrm>
            <a:off x="2587447" y="1557337"/>
            <a:ext cx="7017106" cy="5083175"/>
          </a:xfrm>
          <a:prstGeom prst="rect">
            <a:avLst/>
          </a:prstGeom>
        </p:spPr>
      </p:pic>
    </p:spTree>
    <p:extLst>
      <p:ext uri="{BB962C8B-B14F-4D97-AF65-F5344CB8AC3E}">
        <p14:creationId xmlns:p14="http://schemas.microsoft.com/office/powerpoint/2010/main" val="2535674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text, application&#10;&#10;Description automatically generated">
            <a:extLst>
              <a:ext uri="{FF2B5EF4-FFF2-40B4-BE49-F238E27FC236}">
                <a16:creationId xmlns:a16="http://schemas.microsoft.com/office/drawing/2014/main" id="{BB9F8599-E3B9-FD41-9982-1FDC2D8E4697}"/>
              </a:ext>
            </a:extLst>
          </p:cNvPr>
          <p:cNvPicPr>
            <a:picLocks noChangeAspect="1"/>
          </p:cNvPicPr>
          <p:nvPr/>
        </p:nvPicPr>
        <p:blipFill>
          <a:blip r:embed="rId2"/>
          <a:stretch>
            <a:fillRect/>
          </a:stretch>
        </p:blipFill>
        <p:spPr>
          <a:xfrm>
            <a:off x="2063750" y="793750"/>
            <a:ext cx="8064500" cy="5270500"/>
          </a:xfrm>
          <a:prstGeom prst="rect">
            <a:avLst/>
          </a:prstGeom>
        </p:spPr>
      </p:pic>
    </p:spTree>
    <p:extLst>
      <p:ext uri="{BB962C8B-B14F-4D97-AF65-F5344CB8AC3E}">
        <p14:creationId xmlns:p14="http://schemas.microsoft.com/office/powerpoint/2010/main" val="400746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2FDE2-3FA3-7244-BDEC-821430DD00BB}"/>
              </a:ext>
            </a:extLst>
          </p:cNvPr>
          <p:cNvSpPr>
            <a:spLocks noGrp="1"/>
          </p:cNvSpPr>
          <p:nvPr>
            <p:ph type="title"/>
          </p:nvPr>
        </p:nvSpPr>
        <p:spPr/>
        <p:txBody>
          <a:bodyPr/>
          <a:lstStyle/>
          <a:p>
            <a:r>
              <a:rPr lang="en-US" b="1" dirty="0"/>
              <a:t>4. Starting the flask server</a:t>
            </a:r>
            <a:endParaRPr lang="en-TH" dirty="0"/>
          </a:p>
        </p:txBody>
      </p:sp>
      <p:pic>
        <p:nvPicPr>
          <p:cNvPr id="5" name="Picture 4" descr="Graphical user interface, text, application, email&#10;&#10;Description automatically generated">
            <a:extLst>
              <a:ext uri="{FF2B5EF4-FFF2-40B4-BE49-F238E27FC236}">
                <a16:creationId xmlns:a16="http://schemas.microsoft.com/office/drawing/2014/main" id="{7B745A60-CEE0-E84E-A5C2-248BFA01C80F}"/>
              </a:ext>
            </a:extLst>
          </p:cNvPr>
          <p:cNvPicPr>
            <a:picLocks noChangeAspect="1"/>
          </p:cNvPicPr>
          <p:nvPr/>
        </p:nvPicPr>
        <p:blipFill>
          <a:blip r:embed="rId2"/>
          <a:stretch>
            <a:fillRect/>
          </a:stretch>
        </p:blipFill>
        <p:spPr>
          <a:xfrm>
            <a:off x="1987550" y="1690688"/>
            <a:ext cx="8216900" cy="4762500"/>
          </a:xfrm>
          <a:prstGeom prst="rect">
            <a:avLst/>
          </a:prstGeom>
        </p:spPr>
      </p:pic>
    </p:spTree>
    <p:extLst>
      <p:ext uri="{BB962C8B-B14F-4D97-AF65-F5344CB8AC3E}">
        <p14:creationId xmlns:p14="http://schemas.microsoft.com/office/powerpoint/2010/main" val="747660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B32B-9F74-D94A-8298-AE5D52FE500B}"/>
              </a:ext>
            </a:extLst>
          </p:cNvPr>
          <p:cNvSpPr>
            <a:spLocks noGrp="1"/>
          </p:cNvSpPr>
          <p:nvPr>
            <p:ph type="title"/>
          </p:nvPr>
        </p:nvSpPr>
        <p:spPr/>
        <p:txBody>
          <a:bodyPr/>
          <a:lstStyle/>
          <a:p>
            <a:r>
              <a:rPr lang="en-US" b="1" dirty="0"/>
              <a:t>The overall structure of the project:</a:t>
            </a:r>
            <a:endParaRPr lang="en-TH" dirty="0"/>
          </a:p>
        </p:txBody>
      </p:sp>
      <p:sp>
        <p:nvSpPr>
          <p:cNvPr id="3" name="Content Placeholder 2">
            <a:extLst>
              <a:ext uri="{FF2B5EF4-FFF2-40B4-BE49-F238E27FC236}">
                <a16:creationId xmlns:a16="http://schemas.microsoft.com/office/drawing/2014/main" id="{4365FD73-60F3-2848-8CEE-61613AD576DC}"/>
              </a:ext>
            </a:extLst>
          </p:cNvPr>
          <p:cNvSpPr>
            <a:spLocks noGrp="1"/>
          </p:cNvSpPr>
          <p:nvPr>
            <p:ph idx="1"/>
          </p:nvPr>
        </p:nvSpPr>
        <p:spPr/>
        <p:txBody>
          <a:bodyPr/>
          <a:lstStyle/>
          <a:p>
            <a:r>
              <a:rPr lang="en-US" dirty="0"/>
              <a:t>This project has four major parts:</a:t>
            </a:r>
          </a:p>
          <a:p>
            <a:endParaRPr lang="en-TH" dirty="0"/>
          </a:p>
        </p:txBody>
      </p:sp>
      <p:pic>
        <p:nvPicPr>
          <p:cNvPr id="4098" name="Picture 2" descr="Image for post">
            <a:extLst>
              <a:ext uri="{FF2B5EF4-FFF2-40B4-BE49-F238E27FC236}">
                <a16:creationId xmlns:a16="http://schemas.microsoft.com/office/drawing/2014/main" id="{35CFD407-3418-A443-8B3F-FADBE4B5D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924" y="1825625"/>
            <a:ext cx="2455863" cy="4838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148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1A6B-D93F-A948-8CA2-F6B1CF5D8ABC}"/>
              </a:ext>
            </a:extLst>
          </p:cNvPr>
          <p:cNvSpPr>
            <a:spLocks noGrp="1"/>
          </p:cNvSpPr>
          <p:nvPr>
            <p:ph type="title"/>
          </p:nvPr>
        </p:nvSpPr>
        <p:spPr/>
        <p:txBody>
          <a:bodyPr/>
          <a:lstStyle/>
          <a:p>
            <a:r>
              <a:rPr lang="en-TH" dirty="0"/>
              <a:t>Structure</a:t>
            </a:r>
          </a:p>
        </p:txBody>
      </p:sp>
      <p:sp>
        <p:nvSpPr>
          <p:cNvPr id="3" name="Content Placeholder 2">
            <a:extLst>
              <a:ext uri="{FF2B5EF4-FFF2-40B4-BE49-F238E27FC236}">
                <a16:creationId xmlns:a16="http://schemas.microsoft.com/office/drawing/2014/main" id="{B1A16BCB-5F13-E242-926E-597E3D35C078}"/>
              </a:ext>
            </a:extLst>
          </p:cNvPr>
          <p:cNvSpPr>
            <a:spLocks noGrp="1"/>
          </p:cNvSpPr>
          <p:nvPr>
            <p:ph idx="1"/>
          </p:nvPr>
        </p:nvSpPr>
        <p:spPr/>
        <p:txBody>
          <a:bodyPr/>
          <a:lstStyle/>
          <a:p>
            <a:r>
              <a:rPr lang="en-US" b="1" dirty="0"/>
              <a:t>1. </a:t>
            </a:r>
            <a:r>
              <a:rPr lang="en-US" b="1" dirty="0" err="1"/>
              <a:t>model.py</a:t>
            </a:r>
            <a:r>
              <a:rPr lang="en-US" b="1" dirty="0"/>
              <a:t> </a:t>
            </a:r>
            <a:r>
              <a:rPr lang="en-US" dirty="0"/>
              <a:t>— This contains code for our Machine Learning model to predict employee salaries based on training data in </a:t>
            </a:r>
            <a:r>
              <a:rPr lang="en-US" b="1" dirty="0"/>
              <a:t>‘</a:t>
            </a:r>
            <a:r>
              <a:rPr lang="en-US" b="1" dirty="0" err="1"/>
              <a:t>hiring.csv</a:t>
            </a:r>
            <a:r>
              <a:rPr lang="en-US" b="1" dirty="0"/>
              <a:t>’</a:t>
            </a:r>
            <a:r>
              <a:rPr lang="en-US" dirty="0"/>
              <a:t> file.</a:t>
            </a:r>
          </a:p>
          <a:p>
            <a:r>
              <a:rPr lang="en-US" b="1" dirty="0"/>
              <a:t>2. </a:t>
            </a:r>
            <a:r>
              <a:rPr lang="en-US" b="1" dirty="0" err="1"/>
              <a:t>app.py</a:t>
            </a:r>
            <a:r>
              <a:rPr lang="en-US" b="1" dirty="0"/>
              <a:t> </a:t>
            </a:r>
            <a:r>
              <a:rPr lang="en-US" dirty="0"/>
              <a:t>— This contains Flask APIs that receives employee details through GUI or API calls, computes the predicted value based on our model and returns it.</a:t>
            </a:r>
          </a:p>
          <a:p>
            <a:r>
              <a:rPr lang="en-US" b="1" dirty="0"/>
              <a:t>3. template </a:t>
            </a:r>
            <a:r>
              <a:rPr lang="en-US" dirty="0"/>
              <a:t>— This folder contains the HTML template (</a:t>
            </a:r>
            <a:r>
              <a:rPr lang="en-US" b="1" dirty="0" err="1"/>
              <a:t>index.html</a:t>
            </a:r>
            <a:r>
              <a:rPr lang="en-US" dirty="0"/>
              <a:t>) to allow user to enter employee detail and displays the predicted employee salary.</a:t>
            </a:r>
          </a:p>
          <a:p>
            <a:r>
              <a:rPr lang="en-US" b="1" dirty="0"/>
              <a:t>4. static </a:t>
            </a:r>
            <a:r>
              <a:rPr lang="en-US" dirty="0"/>
              <a:t>— This folder contains the </a:t>
            </a:r>
            <a:r>
              <a:rPr lang="en-US" b="1" dirty="0" err="1"/>
              <a:t>css</a:t>
            </a:r>
            <a:r>
              <a:rPr lang="en-US" dirty="0"/>
              <a:t> folder with </a:t>
            </a:r>
            <a:r>
              <a:rPr lang="en-US" b="1" dirty="0" err="1"/>
              <a:t>style.css</a:t>
            </a:r>
            <a:r>
              <a:rPr lang="en-US" dirty="0"/>
              <a:t> file which has the styling required for out </a:t>
            </a:r>
            <a:r>
              <a:rPr lang="en-US" dirty="0" err="1"/>
              <a:t>index.html</a:t>
            </a:r>
            <a:r>
              <a:rPr lang="en-US" dirty="0"/>
              <a:t> file.</a:t>
            </a:r>
          </a:p>
        </p:txBody>
      </p:sp>
    </p:spTree>
    <p:extLst>
      <p:ext uri="{BB962C8B-B14F-4D97-AF65-F5344CB8AC3E}">
        <p14:creationId xmlns:p14="http://schemas.microsoft.com/office/powerpoint/2010/main" val="3302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AA655-1413-EC4D-8848-26DE8728A4CC}"/>
              </a:ext>
            </a:extLst>
          </p:cNvPr>
          <p:cNvSpPr>
            <a:spLocks noGrp="1"/>
          </p:cNvSpPr>
          <p:nvPr>
            <p:ph type="title"/>
          </p:nvPr>
        </p:nvSpPr>
        <p:spPr>
          <a:xfrm>
            <a:off x="838200" y="365126"/>
            <a:ext cx="10515600" cy="935038"/>
          </a:xfrm>
        </p:spPr>
        <p:txBody>
          <a:bodyPr/>
          <a:lstStyle/>
          <a:p>
            <a:r>
              <a:rPr lang="en-US" b="1" dirty="0"/>
              <a:t>Running the project:</a:t>
            </a:r>
            <a:endParaRPr lang="en-TH" dirty="0"/>
          </a:p>
        </p:txBody>
      </p:sp>
      <p:pic>
        <p:nvPicPr>
          <p:cNvPr id="5" name="Picture 4" descr="Graphical user interface, text, application, email&#10;&#10;Description automatically generated">
            <a:extLst>
              <a:ext uri="{FF2B5EF4-FFF2-40B4-BE49-F238E27FC236}">
                <a16:creationId xmlns:a16="http://schemas.microsoft.com/office/drawing/2014/main" id="{C689A0FA-F60C-9247-BB0A-288306D74CDC}"/>
              </a:ext>
            </a:extLst>
          </p:cNvPr>
          <p:cNvPicPr>
            <a:picLocks noChangeAspect="1"/>
          </p:cNvPicPr>
          <p:nvPr/>
        </p:nvPicPr>
        <p:blipFill>
          <a:blip r:embed="rId2"/>
          <a:stretch>
            <a:fillRect/>
          </a:stretch>
        </p:blipFill>
        <p:spPr>
          <a:xfrm>
            <a:off x="3027775" y="1436688"/>
            <a:ext cx="6136449" cy="5084762"/>
          </a:xfrm>
          <a:prstGeom prst="rect">
            <a:avLst/>
          </a:prstGeom>
        </p:spPr>
      </p:pic>
    </p:spTree>
    <p:extLst>
      <p:ext uri="{BB962C8B-B14F-4D97-AF65-F5344CB8AC3E}">
        <p14:creationId xmlns:p14="http://schemas.microsoft.com/office/powerpoint/2010/main" val="945815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33F0ACF2-31F6-B740-B705-640E5618C68D}"/>
              </a:ext>
            </a:extLst>
          </p:cNvPr>
          <p:cNvPicPr>
            <a:picLocks noChangeAspect="1"/>
          </p:cNvPicPr>
          <p:nvPr/>
        </p:nvPicPr>
        <p:blipFill>
          <a:blip r:embed="rId2"/>
          <a:stretch>
            <a:fillRect/>
          </a:stretch>
        </p:blipFill>
        <p:spPr>
          <a:xfrm>
            <a:off x="2330012" y="0"/>
            <a:ext cx="7531976" cy="6858000"/>
          </a:xfrm>
          <a:prstGeom prst="rect">
            <a:avLst/>
          </a:prstGeom>
        </p:spPr>
      </p:pic>
    </p:spTree>
    <p:extLst>
      <p:ext uri="{BB962C8B-B14F-4D97-AF65-F5344CB8AC3E}">
        <p14:creationId xmlns:p14="http://schemas.microsoft.com/office/powerpoint/2010/main" val="311964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4D6B7F48-3A30-FD4F-A159-A9A7E7D333D2}"/>
              </a:ext>
            </a:extLst>
          </p:cNvPr>
          <p:cNvPicPr>
            <a:picLocks noChangeAspect="1"/>
          </p:cNvPicPr>
          <p:nvPr/>
        </p:nvPicPr>
        <p:blipFill>
          <a:blip r:embed="rId2"/>
          <a:stretch>
            <a:fillRect/>
          </a:stretch>
        </p:blipFill>
        <p:spPr>
          <a:xfrm>
            <a:off x="2004100" y="0"/>
            <a:ext cx="8183800" cy="6858000"/>
          </a:xfrm>
          <a:prstGeom prst="rect">
            <a:avLst/>
          </a:prstGeom>
        </p:spPr>
      </p:pic>
    </p:spTree>
    <p:extLst>
      <p:ext uri="{BB962C8B-B14F-4D97-AF65-F5344CB8AC3E}">
        <p14:creationId xmlns:p14="http://schemas.microsoft.com/office/powerpoint/2010/main" val="1465356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B669949B-4D5B-8D4D-BD82-C26D2A83689A}"/>
              </a:ext>
            </a:extLst>
          </p:cNvPr>
          <p:cNvPicPr>
            <a:picLocks noChangeAspect="1"/>
          </p:cNvPicPr>
          <p:nvPr/>
        </p:nvPicPr>
        <p:blipFill>
          <a:blip r:embed="rId2"/>
          <a:stretch>
            <a:fillRect/>
          </a:stretch>
        </p:blipFill>
        <p:spPr>
          <a:xfrm>
            <a:off x="2157916" y="0"/>
            <a:ext cx="7876167" cy="6858000"/>
          </a:xfrm>
          <a:prstGeom prst="rect">
            <a:avLst/>
          </a:prstGeom>
        </p:spPr>
      </p:pic>
    </p:spTree>
    <p:extLst>
      <p:ext uri="{BB962C8B-B14F-4D97-AF65-F5344CB8AC3E}">
        <p14:creationId xmlns:p14="http://schemas.microsoft.com/office/powerpoint/2010/main" val="494380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A5C5-8C82-2641-8A6D-FF1C8EE1B761}"/>
              </a:ext>
            </a:extLst>
          </p:cNvPr>
          <p:cNvSpPr>
            <a:spLocks noGrp="1"/>
          </p:cNvSpPr>
          <p:nvPr>
            <p:ph type="title"/>
          </p:nvPr>
        </p:nvSpPr>
        <p:spPr/>
        <p:txBody>
          <a:bodyPr/>
          <a:lstStyle/>
          <a:p>
            <a:r>
              <a:rPr lang="en-TH" dirty="0"/>
              <a:t>Reference</a:t>
            </a:r>
          </a:p>
        </p:txBody>
      </p:sp>
      <p:sp>
        <p:nvSpPr>
          <p:cNvPr id="3" name="Content Placeholder 2">
            <a:extLst>
              <a:ext uri="{FF2B5EF4-FFF2-40B4-BE49-F238E27FC236}">
                <a16:creationId xmlns:a16="http://schemas.microsoft.com/office/drawing/2014/main" id="{A31AD667-3AFA-224E-9F57-33AB8B4E2795}"/>
              </a:ext>
            </a:extLst>
          </p:cNvPr>
          <p:cNvSpPr>
            <a:spLocks noGrp="1"/>
          </p:cNvSpPr>
          <p:nvPr>
            <p:ph idx="1"/>
          </p:nvPr>
        </p:nvSpPr>
        <p:spPr/>
        <p:txBody>
          <a:bodyPr/>
          <a:lstStyle/>
          <a:p>
            <a:r>
              <a:rPr lang="en-US" b="1" i="1" dirty="0">
                <a:hlinkClick r:id="rId2"/>
              </a:rPr>
              <a:t>https://github.com/MaajidKhan/DeployMLModel-Flask</a:t>
            </a:r>
            <a:endParaRPr lang="en-US" b="1" i="1" dirty="0"/>
          </a:p>
          <a:p>
            <a:r>
              <a:rPr lang="en-US" dirty="0">
                <a:hlinkClick r:id="rId3"/>
              </a:rPr>
              <a:t>https://medium.com/datadriveninvestor/deploy-your-machine-learning-model-using-flask-made-easy-now-635d2f12c50c</a:t>
            </a:r>
            <a:endParaRPr lang="en-US" dirty="0"/>
          </a:p>
          <a:p>
            <a:r>
              <a:rPr lang="en-US" dirty="0">
                <a:hlinkClick r:id="rId4"/>
              </a:rPr>
              <a:t>https://towardsdatascience.com/how-to-easily-deploy-machine-learning-models-using-flask-b95af8fe34d4</a:t>
            </a:r>
            <a:endParaRPr lang="en-US" dirty="0"/>
          </a:p>
          <a:p>
            <a:endParaRPr lang="en-US" dirty="0"/>
          </a:p>
          <a:p>
            <a:endParaRPr lang="en-TH" dirty="0"/>
          </a:p>
        </p:txBody>
      </p:sp>
    </p:spTree>
    <p:extLst>
      <p:ext uri="{BB962C8B-B14F-4D97-AF65-F5344CB8AC3E}">
        <p14:creationId xmlns:p14="http://schemas.microsoft.com/office/powerpoint/2010/main" val="3442786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679</Words>
  <Application>Microsoft Macintosh PowerPoint</Application>
  <PresentationFormat>Widescreen</PresentationFormat>
  <Paragraphs>27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Deploy your Machine Learning Model using Flask</vt:lpstr>
      <vt:lpstr>PowerPoint Presentation</vt:lpstr>
      <vt:lpstr>PowerPoint Presentation</vt:lpstr>
      <vt:lpstr>Pickle</vt:lpstr>
      <vt:lpstr>PowerPoint Presentation</vt:lpstr>
      <vt:lpstr>PowerPoint Presentation</vt:lpstr>
      <vt:lpstr>Setting up flask-app over the localhost:</vt:lpstr>
      <vt:lpstr>2. Redirecting the API to the home page index.html</vt:lpstr>
      <vt:lpstr>3. Redirecting the API to predict the result (salary)</vt:lpstr>
      <vt:lpstr>PowerPoint Presentation</vt:lpstr>
      <vt:lpstr>4. Starting the flask server</vt:lpstr>
      <vt:lpstr>The overall structure of the project:</vt:lpstr>
      <vt:lpstr>Structure</vt:lpstr>
      <vt:lpstr>Running the project:</vt:lpstr>
      <vt:lpstr>PowerPoint Presentation</vt:lpstr>
      <vt:lpstr>PowerPoint Presentation</vt:lpstr>
      <vt:lpstr>PowerPoint Presentation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your Machine Learning Model using Flask</dc:title>
  <dc:creator>Suttipong Kullawattana</dc:creator>
  <cp:lastModifiedBy>Suttipong Kullawattana</cp:lastModifiedBy>
  <cp:revision>8</cp:revision>
  <dcterms:created xsi:type="dcterms:W3CDTF">2020-12-27T09:08:26Z</dcterms:created>
  <dcterms:modified xsi:type="dcterms:W3CDTF">2020-12-27T09:59:40Z</dcterms:modified>
</cp:coreProperties>
</file>