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840"/>
  </p:normalViewPr>
  <p:slideViewPr>
    <p:cSldViewPr snapToGrid="0" snapToObjects="1">
      <p:cViewPr varScale="1">
        <p:scale>
          <a:sx n="90" d="100"/>
          <a:sy n="90" d="100"/>
        </p:scale>
        <p:origin x="232"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59EE2-6960-E144-8DE8-A456D9A7FA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5F586223-8A08-374E-B398-BF5E6F371F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2A56DE51-8F7F-674B-9E3E-979A571997BC}"/>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9760FC9B-B44E-D14D-8A51-77A16C199935}"/>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AC5AF9D1-06C0-4649-8F8E-F3C78EE311BE}"/>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410176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92AA-19EB-8B4B-914D-0B791C4864BE}"/>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09695D22-0C26-9D43-AA8C-2E50B8879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74C04BF3-ADF4-EC45-BFCF-3FB5B6B8FDA1}"/>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BF17C22F-3A2B-2947-8B0F-8390B66E471E}"/>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FD58E1E8-E917-3C4E-B6BA-74153F482E9A}"/>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70949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4F390-BE12-AF47-B0E0-B35EC4DC24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C4D81245-53C4-0649-B1EB-47FF1D7504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AB11E7-54E7-1348-87A2-397CCB7B06FB}"/>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B213BCDA-313F-FA4F-93ED-A7AFCF5EE550}"/>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7C9F82DC-C1F3-B54D-9E3F-78314E0E8026}"/>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1562358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50E8-82EE-DD44-91DC-FF09FEBEE084}"/>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F96BA68E-38DD-3845-AD42-A0E411904A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299C7D9B-58AE-B243-ADF8-84BC39F307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6D9202E9-1AF5-F245-ACF2-6CB2A25CC0E8}"/>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6" name="Footer Placeholder 5">
            <a:extLst>
              <a:ext uri="{FF2B5EF4-FFF2-40B4-BE49-F238E27FC236}">
                <a16:creationId xmlns:a16="http://schemas.microsoft.com/office/drawing/2014/main" id="{2513BBFB-B536-F84C-89C7-A41142F297EB}"/>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D43A9DCA-9AF6-704E-A177-97EDED3459B2}"/>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2150358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61241-B53B-8349-998B-CA432C6C91FB}"/>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61C4A565-739E-5849-9E9F-2D0CC22D29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12772-9E5B-4E4B-832C-95317E5624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07A62F52-298C-FE45-BF51-B848C1957E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36F656-32B1-5F41-9209-300C6409B5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A85F9748-784A-DD42-83B5-0AFEE0986DA9}"/>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8" name="Footer Placeholder 7">
            <a:extLst>
              <a:ext uri="{FF2B5EF4-FFF2-40B4-BE49-F238E27FC236}">
                <a16:creationId xmlns:a16="http://schemas.microsoft.com/office/drawing/2014/main" id="{A2CC303D-36D3-FA40-844C-5B0CDB822F80}"/>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B0D700D6-6C52-784B-B500-21E7CACF5FBE}"/>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283422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E9167-DAED-B843-AA0B-48F5215955A8}"/>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D2610932-FD18-F642-A859-30BCB236EB54}"/>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4" name="Footer Placeholder 3">
            <a:extLst>
              <a:ext uri="{FF2B5EF4-FFF2-40B4-BE49-F238E27FC236}">
                <a16:creationId xmlns:a16="http://schemas.microsoft.com/office/drawing/2014/main" id="{5FF3BA12-20CA-F94A-B6EE-59266EFDD331}"/>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1D3A7FCB-BA12-1A41-A300-4B3618E3DB71}"/>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450690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018B90-E233-1643-8232-A3089D689E78}"/>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3" name="Footer Placeholder 2">
            <a:extLst>
              <a:ext uri="{FF2B5EF4-FFF2-40B4-BE49-F238E27FC236}">
                <a16:creationId xmlns:a16="http://schemas.microsoft.com/office/drawing/2014/main" id="{13CA93D9-A4BE-B741-839A-730C086D449C}"/>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0810D48A-E408-4D4C-ADF6-5BB5D9E8087F}"/>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53686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31200-2D1A-A947-9941-E1CE706AEB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682283CA-D0BD-0A4B-A03B-1CE006BC2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156B7E90-27C6-2B42-8749-1E8877F1D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9EE542-0E8D-A14C-9C14-F103732AD700}"/>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6" name="Footer Placeholder 5">
            <a:extLst>
              <a:ext uri="{FF2B5EF4-FFF2-40B4-BE49-F238E27FC236}">
                <a16:creationId xmlns:a16="http://schemas.microsoft.com/office/drawing/2014/main" id="{81F6B209-4A24-B84C-A2C9-78A4CA2F25BB}"/>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3C2853A2-36EC-6E41-B290-BB8BBB39D8E9}"/>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3930526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0066-30C9-EA4E-92BC-BA88AF9E1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A8D2B796-23DC-B947-A5F9-B24E6D8F67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57156C89-9540-BE4C-99D9-EF61EA68D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CAF164-6DC4-EC46-B146-F885BF2429C1}"/>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6" name="Footer Placeholder 5">
            <a:extLst>
              <a:ext uri="{FF2B5EF4-FFF2-40B4-BE49-F238E27FC236}">
                <a16:creationId xmlns:a16="http://schemas.microsoft.com/office/drawing/2014/main" id="{DF55FD7C-C50C-F84C-8658-16E47454E90D}"/>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48567118-CF5F-C544-B9BC-480D928A62EB}"/>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1718740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BF50F-6988-C145-9A4F-7436B80E7448}"/>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5E473314-D85C-4D4C-B9EF-037A03AFAC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6DFC62A7-B4EA-B94F-8DA5-F45762B2BDDA}"/>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5B80C09A-A81F-E245-B774-88C2D014E418}"/>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F8891925-BE49-1348-888E-B03BF11853E6}"/>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422180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8A6DFD-4B42-AD48-AEA7-7E89E10DEF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4E92625C-96B7-CE47-8D71-42C38C34FA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26A45997-16D4-8949-99D0-8AC0B7BE85F8}"/>
              </a:ext>
            </a:extLst>
          </p:cNvPr>
          <p:cNvSpPr>
            <a:spLocks noGrp="1"/>
          </p:cNvSpPr>
          <p:nvPr>
            <p:ph type="dt" sz="half" idx="10"/>
          </p:nvPr>
        </p:nvSpPr>
        <p:spPr/>
        <p:txBody>
          <a:body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5850E314-9500-CC4E-9E6B-0A3D98261899}"/>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80B8E2D0-D445-774D-9A06-C83A5B891F84}"/>
              </a:ext>
            </a:extLst>
          </p:cNvPr>
          <p:cNvSpPr>
            <a:spLocks noGrp="1"/>
          </p:cNvSpPr>
          <p:nvPr>
            <p:ph type="sldNum" sz="quarter" idx="12"/>
          </p:nvPr>
        </p:nvSpPr>
        <p:spPr/>
        <p:txBody>
          <a:bodyPr/>
          <a:lstStyle/>
          <a:p>
            <a:fld id="{66FEBA1D-86F8-1248-9BF4-A5CA6421283C}" type="slidenum">
              <a:rPr lang="en-TH" smtClean="0"/>
              <a:t>‹#›</a:t>
            </a:fld>
            <a:endParaRPr lang="en-TH"/>
          </a:p>
        </p:txBody>
      </p:sp>
    </p:spTree>
    <p:extLst>
      <p:ext uri="{BB962C8B-B14F-4D97-AF65-F5344CB8AC3E}">
        <p14:creationId xmlns:p14="http://schemas.microsoft.com/office/powerpoint/2010/main" val="213599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615D48-3EEE-D64D-A874-CF8E4A8B44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3F01F111-E0EE-8B44-B66B-E1BF06261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C3E9617B-6B62-9D41-A619-423D13002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123A5B-6AFE-344E-AF84-E65A82337619}" type="datetimeFigureOut">
              <a:rPr lang="en-TH" smtClean="0"/>
              <a:t>27/12/2020 R</a:t>
            </a:fld>
            <a:endParaRPr lang="en-TH"/>
          </a:p>
        </p:txBody>
      </p:sp>
      <p:sp>
        <p:nvSpPr>
          <p:cNvPr id="5" name="Footer Placeholder 4">
            <a:extLst>
              <a:ext uri="{FF2B5EF4-FFF2-40B4-BE49-F238E27FC236}">
                <a16:creationId xmlns:a16="http://schemas.microsoft.com/office/drawing/2014/main" id="{C3B522A7-85C8-2D43-8B8C-297D8A0F71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H"/>
          </a:p>
        </p:txBody>
      </p:sp>
      <p:sp>
        <p:nvSpPr>
          <p:cNvPr id="6" name="Slide Number Placeholder 5">
            <a:extLst>
              <a:ext uri="{FF2B5EF4-FFF2-40B4-BE49-F238E27FC236}">
                <a16:creationId xmlns:a16="http://schemas.microsoft.com/office/drawing/2014/main" id="{499A4B37-08A2-D543-AAA4-3B90B32C37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EBA1D-86F8-1248-9BF4-A5CA6421283C}" type="slidenum">
              <a:rPr lang="en-TH" smtClean="0"/>
              <a:t>‹#›</a:t>
            </a:fld>
            <a:endParaRPr lang="en-TH"/>
          </a:p>
        </p:txBody>
      </p:sp>
    </p:spTree>
    <p:extLst>
      <p:ext uri="{BB962C8B-B14F-4D97-AF65-F5344CB8AC3E}">
        <p14:creationId xmlns:p14="http://schemas.microsoft.com/office/powerpoint/2010/main" val="216822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file/d/1er9NJTLUA3qnRuyhfzuN0XUsoIC4a-_q/vie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cikit-learn.org/stable/modules/generated/sklearn.feature_extraction.text.TfidfVectorizer.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E617576-1D70-C545-9AD3-7A5E716BFB1D}"/>
              </a:ext>
            </a:extLst>
          </p:cNvPr>
          <p:cNvSpPr>
            <a:spLocks noGrp="1"/>
          </p:cNvSpPr>
          <p:nvPr>
            <p:ph type="ctrTitle"/>
          </p:nvPr>
        </p:nvSpPr>
        <p:spPr>
          <a:xfrm>
            <a:off x="3204642" y="2353641"/>
            <a:ext cx="5782716" cy="2150719"/>
          </a:xfrm>
          <a:noFill/>
        </p:spPr>
        <p:txBody>
          <a:bodyPr anchor="ctr">
            <a:normAutofit/>
          </a:bodyPr>
          <a:lstStyle/>
          <a:p>
            <a:r>
              <a:rPr lang="en-US" sz="3600">
                <a:solidFill>
                  <a:srgbClr val="080808"/>
                </a:solidFill>
              </a:rPr>
              <a:t>Detecting Fake News </a:t>
            </a:r>
            <a:br>
              <a:rPr lang="en-US" sz="3600">
                <a:solidFill>
                  <a:srgbClr val="080808"/>
                </a:solidFill>
              </a:rPr>
            </a:br>
            <a:r>
              <a:rPr lang="en-US" sz="3600">
                <a:solidFill>
                  <a:srgbClr val="080808"/>
                </a:solidFill>
              </a:rPr>
              <a:t>with Python</a:t>
            </a:r>
            <a:endParaRPr lang="en-TH" sz="3600">
              <a:solidFill>
                <a:srgbClr val="080808"/>
              </a:solidFill>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83260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9AA0B3-ABE9-F940-A3C2-17E46D68D455}"/>
              </a:ext>
            </a:extLst>
          </p:cNvPr>
          <p:cNvSpPr>
            <a:spLocks noGrp="1"/>
          </p:cNvSpPr>
          <p:nvPr>
            <p:ph type="title"/>
          </p:nvPr>
        </p:nvSpPr>
        <p:spPr>
          <a:xfrm>
            <a:off x="643467" y="1698171"/>
            <a:ext cx="3962061" cy="4516360"/>
          </a:xfrm>
        </p:spPr>
        <p:txBody>
          <a:bodyPr anchor="t">
            <a:normAutofit/>
          </a:bodyPr>
          <a:lstStyle/>
          <a:p>
            <a:r>
              <a:rPr lang="en-US" sz="3600"/>
              <a:t>What is Fake News?</a:t>
            </a:r>
            <a:endParaRPr lang="en-TH" sz="36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BEC0268-C1E4-2549-98C3-2D1941D28643}"/>
              </a:ext>
            </a:extLst>
          </p:cNvPr>
          <p:cNvSpPr>
            <a:spLocks noGrp="1"/>
          </p:cNvSpPr>
          <p:nvPr>
            <p:ph idx="1"/>
          </p:nvPr>
        </p:nvSpPr>
        <p:spPr>
          <a:xfrm>
            <a:off x="5070020" y="1698170"/>
            <a:ext cx="6478513" cy="4516361"/>
          </a:xfrm>
        </p:spPr>
        <p:txBody>
          <a:bodyPr>
            <a:normAutofit/>
          </a:bodyPr>
          <a:lstStyle/>
          <a:p>
            <a:pPr fontAlgn="base"/>
            <a:r>
              <a:rPr lang="en-US" sz="2000"/>
              <a:t>A type of yellow journalism, fake news encapsulates pieces of news that may be hoaxes and is generally spread through social media and other online media. This is often done to further or impose certain ideas and is often achieved with political agendas. Such news items may contain false and/or exaggerated claims, and may end up being viralized by algorithms, and users may end up in a filter bubble.</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7929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930559-3302-BD42-9CB1-84A03D31B729}"/>
              </a:ext>
            </a:extLst>
          </p:cNvPr>
          <p:cNvSpPr>
            <a:spLocks noGrp="1"/>
          </p:cNvSpPr>
          <p:nvPr>
            <p:ph type="title"/>
          </p:nvPr>
        </p:nvSpPr>
        <p:spPr>
          <a:xfrm>
            <a:off x="643467" y="1698171"/>
            <a:ext cx="3962061" cy="4516360"/>
          </a:xfrm>
        </p:spPr>
        <p:txBody>
          <a:bodyPr anchor="t">
            <a:normAutofit/>
          </a:bodyPr>
          <a:lstStyle/>
          <a:p>
            <a:r>
              <a:rPr lang="en-US" sz="3600"/>
              <a:t>What is a TfidfVectorizer?</a:t>
            </a:r>
            <a:endParaRPr lang="en-TH" sz="36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8A24F5E-B9DF-0048-83FA-9D5A931549A4}"/>
              </a:ext>
            </a:extLst>
          </p:cNvPr>
          <p:cNvSpPr>
            <a:spLocks noGrp="1"/>
          </p:cNvSpPr>
          <p:nvPr>
            <p:ph idx="1"/>
          </p:nvPr>
        </p:nvSpPr>
        <p:spPr>
          <a:xfrm>
            <a:off x="5070020" y="1698170"/>
            <a:ext cx="6478513" cy="4516361"/>
          </a:xfrm>
        </p:spPr>
        <p:txBody>
          <a:bodyPr>
            <a:normAutofit/>
          </a:bodyPr>
          <a:lstStyle/>
          <a:p>
            <a:pPr fontAlgn="base"/>
            <a:r>
              <a:rPr lang="en-US" sz="2000" b="1"/>
              <a:t>TF (Term Frequency):</a:t>
            </a:r>
            <a:r>
              <a:rPr lang="en-US" sz="2000"/>
              <a:t> The number of times a word appears in a document is its Term Frequency. A higher value means a term appears more often than others, and so, the document is a good match when the term is part of the search terms.</a:t>
            </a:r>
          </a:p>
          <a:p>
            <a:pPr fontAlgn="base"/>
            <a:r>
              <a:rPr lang="en-US" sz="2000" b="1"/>
              <a:t>IDF (Inverse Document Frequency):</a:t>
            </a:r>
            <a:r>
              <a:rPr lang="en-US" sz="2000"/>
              <a:t> Words that occur many times a document, but also occur many times in many others, may be irrelevant. IDF is a measure of how significant a term is in the entire corpus.</a:t>
            </a:r>
          </a:p>
          <a:p>
            <a:pPr fontAlgn="base"/>
            <a:r>
              <a:rPr lang="en-US" sz="2000"/>
              <a:t>The TfidfVectorizer converts a collection of raw documents into a matrix of TF-IDF features.</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9446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D0C431-8833-5946-BC29-E056C9CA581E}"/>
              </a:ext>
            </a:extLst>
          </p:cNvPr>
          <p:cNvSpPr>
            <a:spLocks noGrp="1"/>
          </p:cNvSpPr>
          <p:nvPr>
            <p:ph type="title"/>
          </p:nvPr>
        </p:nvSpPr>
        <p:spPr>
          <a:xfrm>
            <a:off x="643467" y="1698171"/>
            <a:ext cx="3962061" cy="4516360"/>
          </a:xfrm>
        </p:spPr>
        <p:txBody>
          <a:bodyPr anchor="t">
            <a:normAutofit/>
          </a:bodyPr>
          <a:lstStyle/>
          <a:p>
            <a:r>
              <a:rPr lang="en-US" sz="2500"/>
              <a:t>What is a PassiveAggressiveClassifier?</a:t>
            </a:r>
            <a:endParaRPr lang="en-TH" sz="25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CD33521-6E0B-3544-83D0-A21D9FF1FB28}"/>
              </a:ext>
            </a:extLst>
          </p:cNvPr>
          <p:cNvSpPr>
            <a:spLocks noGrp="1"/>
          </p:cNvSpPr>
          <p:nvPr>
            <p:ph idx="1"/>
          </p:nvPr>
        </p:nvSpPr>
        <p:spPr>
          <a:xfrm>
            <a:off x="5070020" y="1698170"/>
            <a:ext cx="6478513" cy="4516361"/>
          </a:xfrm>
        </p:spPr>
        <p:txBody>
          <a:bodyPr>
            <a:normAutofit/>
          </a:bodyPr>
          <a:lstStyle/>
          <a:p>
            <a:pPr fontAlgn="base"/>
            <a:r>
              <a:rPr lang="en-US" sz="2000"/>
              <a:t>Passive Aggressive algorithms are online learning algorithms. Such an algorithm remains passive for a correct classification outcome, and turns aggressive in the event of a miscalculation, updating and adjusting. Unlike most other algorithms, it does not converge. Its purpose is to make updates that correct the loss, causing very little change in the norm of the weight vector.</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67663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8690D3-F739-DE40-98B6-6A79C9F62B55}"/>
              </a:ext>
            </a:extLst>
          </p:cNvPr>
          <p:cNvSpPr>
            <a:spLocks noGrp="1"/>
          </p:cNvSpPr>
          <p:nvPr>
            <p:ph type="title"/>
          </p:nvPr>
        </p:nvSpPr>
        <p:spPr>
          <a:xfrm>
            <a:off x="643467" y="1698171"/>
            <a:ext cx="3962061" cy="4516360"/>
          </a:xfrm>
        </p:spPr>
        <p:txBody>
          <a:bodyPr anchor="t">
            <a:normAutofit/>
          </a:bodyPr>
          <a:lstStyle/>
          <a:p>
            <a:r>
              <a:rPr lang="en-US" sz="3600" dirty="0"/>
              <a:t>Detecting Fake News with Python </a:t>
            </a:r>
            <a:br>
              <a:rPr lang="en-US" sz="3600" dirty="0"/>
            </a:br>
            <a:r>
              <a:rPr lang="en-US" sz="3600" dirty="0"/>
              <a:t>– Objective</a:t>
            </a:r>
            <a:endParaRPr lang="en-TH" sz="3600" dirty="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E4161FB-2EDF-7648-9AF9-296EF54FBF1F}"/>
              </a:ext>
            </a:extLst>
          </p:cNvPr>
          <p:cNvSpPr>
            <a:spLocks noGrp="1"/>
          </p:cNvSpPr>
          <p:nvPr>
            <p:ph idx="1"/>
          </p:nvPr>
        </p:nvSpPr>
        <p:spPr>
          <a:xfrm>
            <a:off x="5070020" y="1698170"/>
            <a:ext cx="6478513" cy="4516361"/>
          </a:xfrm>
        </p:spPr>
        <p:txBody>
          <a:bodyPr>
            <a:normAutofit/>
          </a:bodyPr>
          <a:lstStyle/>
          <a:p>
            <a:pPr fontAlgn="base"/>
            <a:r>
              <a:rPr lang="en-US" sz="2000" dirty="0"/>
              <a:t>To build a model to accurately classify a piece of news as </a:t>
            </a:r>
            <a:r>
              <a:rPr lang="en-US" sz="2000" b="1" dirty="0">
                <a:solidFill>
                  <a:srgbClr val="FF0000"/>
                </a:solidFill>
              </a:rPr>
              <a:t>REAL or FAKE.</a:t>
            </a:r>
          </a:p>
          <a:p>
            <a:endParaRPr lang="en-TH" sz="2000" dirty="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00360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D71A08-C5B0-AF47-B08E-B995B5359FF7}"/>
              </a:ext>
            </a:extLst>
          </p:cNvPr>
          <p:cNvSpPr>
            <a:spLocks noGrp="1"/>
          </p:cNvSpPr>
          <p:nvPr>
            <p:ph type="title"/>
          </p:nvPr>
        </p:nvSpPr>
        <p:spPr>
          <a:xfrm>
            <a:off x="643467" y="1698171"/>
            <a:ext cx="3962061" cy="4516360"/>
          </a:xfrm>
        </p:spPr>
        <p:txBody>
          <a:bodyPr anchor="t">
            <a:normAutofit/>
          </a:bodyPr>
          <a:lstStyle/>
          <a:p>
            <a:r>
              <a:rPr lang="en-US" sz="3600" dirty="0"/>
              <a:t>Detecting Fake News with Python </a:t>
            </a:r>
            <a:br>
              <a:rPr lang="en-US" sz="3600" dirty="0"/>
            </a:br>
            <a:r>
              <a:rPr lang="en-US" sz="3600" dirty="0"/>
              <a:t>– About the Python Project</a:t>
            </a:r>
            <a:endParaRPr lang="en-TH" sz="3600" dirty="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2F0E1BE-09FD-994D-8CAD-5C5A6485B6F8}"/>
              </a:ext>
            </a:extLst>
          </p:cNvPr>
          <p:cNvSpPr>
            <a:spLocks noGrp="1"/>
          </p:cNvSpPr>
          <p:nvPr>
            <p:ph idx="1"/>
          </p:nvPr>
        </p:nvSpPr>
        <p:spPr>
          <a:xfrm>
            <a:off x="5070020" y="1698170"/>
            <a:ext cx="6478513" cy="4516361"/>
          </a:xfrm>
        </p:spPr>
        <p:txBody>
          <a:bodyPr>
            <a:normAutofit/>
          </a:bodyPr>
          <a:lstStyle/>
          <a:p>
            <a:pPr fontAlgn="base"/>
            <a:r>
              <a:rPr lang="en-US" sz="2000"/>
              <a:t>This advanced python project of detecting fake news deals with fake and real news. Using sklearn, we build a TfidfVectorizer on our dataset. Then, we initialize a PassiveAggressive Classifier and fit the model. In the end, the accuracy score and the confusion matrix tell us how well our model fares.</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5644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784371-9C94-7846-B8BA-8432778E5184}"/>
              </a:ext>
            </a:extLst>
          </p:cNvPr>
          <p:cNvSpPr>
            <a:spLocks noGrp="1"/>
          </p:cNvSpPr>
          <p:nvPr>
            <p:ph type="title"/>
          </p:nvPr>
        </p:nvSpPr>
        <p:spPr>
          <a:xfrm>
            <a:off x="643467" y="1698171"/>
            <a:ext cx="3962061" cy="4516360"/>
          </a:xfrm>
        </p:spPr>
        <p:txBody>
          <a:bodyPr anchor="t">
            <a:normAutofit/>
          </a:bodyPr>
          <a:lstStyle/>
          <a:p>
            <a:r>
              <a:rPr lang="en-US" sz="3600"/>
              <a:t>The Dataset</a:t>
            </a:r>
            <a:endParaRPr lang="en-TH" sz="36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506338D-6F1B-AF49-9F48-FEF70519CAA2}"/>
              </a:ext>
            </a:extLst>
          </p:cNvPr>
          <p:cNvSpPr>
            <a:spLocks noGrp="1"/>
          </p:cNvSpPr>
          <p:nvPr>
            <p:ph idx="1"/>
          </p:nvPr>
        </p:nvSpPr>
        <p:spPr>
          <a:xfrm>
            <a:off x="5070020" y="1698170"/>
            <a:ext cx="6478513" cy="4516361"/>
          </a:xfrm>
        </p:spPr>
        <p:txBody>
          <a:bodyPr>
            <a:normAutofit/>
          </a:bodyPr>
          <a:lstStyle/>
          <a:p>
            <a:pPr fontAlgn="base"/>
            <a:r>
              <a:rPr lang="en-US" sz="2000"/>
              <a:t>The dataset we’ll use for this python project- we’ll call it news.csv. This dataset has a shape of 7796×4. The first column identifies the news, the second and third are the title and text, and the fourth column has labels denoting whether the news is REAL or FAKE. The dataset takes up 29.2MB of space and you can</a:t>
            </a:r>
            <a:r>
              <a:rPr lang="en-US" sz="2000" b="1" i="1">
                <a:hlinkClick r:id="rId2"/>
              </a:rPr>
              <a:t> download it here</a:t>
            </a:r>
            <a:r>
              <a:rPr lang="en-US" sz="2000"/>
              <a:t>.</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76815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E2BD26-D923-AD4E-9D59-83154C107F0C}"/>
              </a:ext>
            </a:extLst>
          </p:cNvPr>
          <p:cNvSpPr>
            <a:spLocks noGrp="1"/>
          </p:cNvSpPr>
          <p:nvPr>
            <p:ph type="title"/>
          </p:nvPr>
        </p:nvSpPr>
        <p:spPr>
          <a:xfrm>
            <a:off x="643467" y="1698171"/>
            <a:ext cx="3962061" cy="4516360"/>
          </a:xfrm>
        </p:spPr>
        <p:txBody>
          <a:bodyPr anchor="t">
            <a:normAutofit/>
          </a:bodyPr>
          <a:lstStyle/>
          <a:p>
            <a:r>
              <a:rPr lang="en-US" sz="3600" dirty="0"/>
              <a:t>Advanced Python Project </a:t>
            </a:r>
            <a:br>
              <a:rPr lang="en-US" sz="3600" dirty="0"/>
            </a:br>
            <a:r>
              <a:rPr lang="en-US" sz="3600" dirty="0"/>
              <a:t>– Prerequisites</a:t>
            </a:r>
            <a:endParaRPr lang="en-TH" sz="3600" dirty="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57F82C6-51CE-104C-ACFD-BD7577191595}"/>
              </a:ext>
            </a:extLst>
          </p:cNvPr>
          <p:cNvSpPr>
            <a:spLocks noGrp="1"/>
          </p:cNvSpPr>
          <p:nvPr>
            <p:ph idx="1"/>
          </p:nvPr>
        </p:nvSpPr>
        <p:spPr>
          <a:xfrm>
            <a:off x="5070020" y="1698170"/>
            <a:ext cx="6478513" cy="4516361"/>
          </a:xfrm>
        </p:spPr>
        <p:txBody>
          <a:bodyPr>
            <a:normAutofit/>
          </a:bodyPr>
          <a:lstStyle/>
          <a:p>
            <a:pPr fontAlgn="base"/>
            <a:r>
              <a:rPr lang="en-US" sz="2000"/>
              <a:t>You’ll need to install the following libraries with pip:</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196B0CCE-FCDB-7840-B5A9-7E696211CA15}"/>
              </a:ext>
            </a:extLst>
          </p:cNvPr>
          <p:cNvPicPr>
            <a:picLocks noChangeAspect="1"/>
          </p:cNvPicPr>
          <p:nvPr/>
        </p:nvPicPr>
        <p:blipFill>
          <a:blip r:embed="rId2"/>
          <a:stretch>
            <a:fillRect/>
          </a:stretch>
        </p:blipFill>
        <p:spPr>
          <a:xfrm>
            <a:off x="730304" y="3956350"/>
            <a:ext cx="10287000" cy="965200"/>
          </a:xfrm>
          <a:prstGeom prst="rect">
            <a:avLst/>
          </a:prstGeom>
        </p:spPr>
      </p:pic>
    </p:spTree>
    <p:extLst>
      <p:ext uri="{BB962C8B-B14F-4D97-AF65-F5344CB8AC3E}">
        <p14:creationId xmlns:p14="http://schemas.microsoft.com/office/powerpoint/2010/main" val="3446411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C17511-F017-E14A-8C51-FC2292992C92}"/>
              </a:ext>
            </a:extLst>
          </p:cNvPr>
          <p:cNvSpPr>
            <a:spLocks noGrp="1"/>
          </p:cNvSpPr>
          <p:nvPr>
            <p:ph type="title"/>
          </p:nvPr>
        </p:nvSpPr>
        <p:spPr>
          <a:xfrm>
            <a:off x="643467" y="1698171"/>
            <a:ext cx="3962061" cy="4516360"/>
          </a:xfrm>
        </p:spPr>
        <p:txBody>
          <a:bodyPr anchor="t">
            <a:normAutofit/>
          </a:bodyPr>
          <a:lstStyle/>
          <a:p>
            <a:r>
              <a:rPr lang="en-US" sz="3600"/>
              <a:t>Steps for detecting fake news with Python</a:t>
            </a:r>
            <a:endParaRPr lang="en-TH" sz="36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6E6A91C-B54F-E344-812F-3F9056B51605}"/>
              </a:ext>
            </a:extLst>
          </p:cNvPr>
          <p:cNvSpPr>
            <a:spLocks noGrp="1"/>
          </p:cNvSpPr>
          <p:nvPr>
            <p:ph idx="1"/>
          </p:nvPr>
        </p:nvSpPr>
        <p:spPr>
          <a:xfrm>
            <a:off x="5070020" y="1698170"/>
            <a:ext cx="6478513" cy="4516361"/>
          </a:xfrm>
        </p:spPr>
        <p:txBody>
          <a:bodyPr>
            <a:normAutofit/>
          </a:bodyPr>
          <a:lstStyle/>
          <a:p>
            <a:pPr fontAlgn="base"/>
            <a:r>
              <a:rPr lang="en-US" sz="2000"/>
              <a:t>Follow the below steps for detecting fake news and complete your first advanced Python Project –</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449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10;&#10;Description automatically generated">
            <a:extLst>
              <a:ext uri="{FF2B5EF4-FFF2-40B4-BE49-F238E27FC236}">
                <a16:creationId xmlns:a16="http://schemas.microsoft.com/office/drawing/2014/main" id="{160D2813-E746-9240-9BCD-A70A17AE1374}"/>
              </a:ext>
            </a:extLst>
          </p:cNvPr>
          <p:cNvPicPr>
            <a:picLocks noChangeAspect="1"/>
          </p:cNvPicPr>
          <p:nvPr/>
        </p:nvPicPr>
        <p:blipFill>
          <a:blip r:embed="rId2"/>
          <a:stretch>
            <a:fillRect/>
          </a:stretch>
        </p:blipFill>
        <p:spPr>
          <a:xfrm>
            <a:off x="927100" y="217487"/>
            <a:ext cx="10337800" cy="2451100"/>
          </a:xfrm>
          <a:prstGeom prst="rect">
            <a:avLst/>
          </a:prstGeom>
        </p:spPr>
      </p:pic>
      <p:pic>
        <p:nvPicPr>
          <p:cNvPr id="1026" name="Picture 2" descr="importing data sets in python open source projects">
            <a:extLst>
              <a:ext uri="{FF2B5EF4-FFF2-40B4-BE49-F238E27FC236}">
                <a16:creationId xmlns:a16="http://schemas.microsoft.com/office/drawing/2014/main" id="{F83798A3-7C92-4640-9DE1-28D65EF79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087" y="2668587"/>
            <a:ext cx="6219825" cy="3762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186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EA01-5A41-1547-8196-0AEF7DCBF003}"/>
              </a:ext>
            </a:extLst>
          </p:cNvPr>
          <p:cNvSpPr>
            <a:spLocks noGrp="1"/>
          </p:cNvSpPr>
          <p:nvPr>
            <p:ph type="title"/>
          </p:nvPr>
        </p:nvSpPr>
        <p:spPr/>
        <p:txBody>
          <a:bodyPr>
            <a:normAutofit fontScale="90000"/>
          </a:bodyPr>
          <a:lstStyle/>
          <a:p>
            <a:r>
              <a:rPr lang="en-US" dirty="0"/>
              <a:t>Now, let’s read the data into a </a:t>
            </a:r>
            <a:r>
              <a:rPr lang="en-US" dirty="0" err="1"/>
              <a:t>DataFrame</a:t>
            </a:r>
            <a:r>
              <a:rPr lang="en-US" dirty="0"/>
              <a:t>, and get the shape of the data and the first 5 records.</a:t>
            </a:r>
            <a:endParaRPr lang="en-TH" dirty="0"/>
          </a:p>
        </p:txBody>
      </p:sp>
      <p:pic>
        <p:nvPicPr>
          <p:cNvPr id="5" name="Picture 4" descr="Background pattern&#10;&#10;Description automatically generated with low confidence">
            <a:extLst>
              <a:ext uri="{FF2B5EF4-FFF2-40B4-BE49-F238E27FC236}">
                <a16:creationId xmlns:a16="http://schemas.microsoft.com/office/drawing/2014/main" id="{709C37DC-90B5-D249-A96A-37F345ABF6F4}"/>
              </a:ext>
            </a:extLst>
          </p:cNvPr>
          <p:cNvPicPr>
            <a:picLocks noChangeAspect="1"/>
          </p:cNvPicPr>
          <p:nvPr/>
        </p:nvPicPr>
        <p:blipFill>
          <a:blip r:embed="rId2"/>
          <a:stretch>
            <a:fillRect/>
          </a:stretch>
        </p:blipFill>
        <p:spPr>
          <a:xfrm>
            <a:off x="927100" y="2317750"/>
            <a:ext cx="10337800" cy="2222500"/>
          </a:xfrm>
          <a:prstGeom prst="rect">
            <a:avLst/>
          </a:prstGeom>
        </p:spPr>
      </p:pic>
    </p:spTree>
    <p:extLst>
      <p:ext uri="{BB962C8B-B14F-4D97-AF65-F5344CB8AC3E}">
        <p14:creationId xmlns:p14="http://schemas.microsoft.com/office/powerpoint/2010/main" val="482425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teresting python projects - read data frame ">
            <a:extLst>
              <a:ext uri="{FF2B5EF4-FFF2-40B4-BE49-F238E27FC236}">
                <a16:creationId xmlns:a16="http://schemas.microsoft.com/office/drawing/2014/main" id="{5183CC77-A150-A443-AE69-28FC76A02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1498600"/>
            <a:ext cx="10109200" cy="386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468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9C1EA-E8E8-C545-BC1B-948DB4BAEB26}"/>
              </a:ext>
            </a:extLst>
          </p:cNvPr>
          <p:cNvSpPr>
            <a:spLocks noGrp="1"/>
          </p:cNvSpPr>
          <p:nvPr>
            <p:ph type="title"/>
          </p:nvPr>
        </p:nvSpPr>
        <p:spPr/>
        <p:txBody>
          <a:bodyPr/>
          <a:lstStyle/>
          <a:p>
            <a:r>
              <a:rPr lang="en-US" dirty="0"/>
              <a:t>3. And get the labels from the </a:t>
            </a:r>
            <a:r>
              <a:rPr lang="en-US" dirty="0" err="1"/>
              <a:t>DataFrame</a:t>
            </a:r>
            <a:r>
              <a:rPr lang="en-US" dirty="0"/>
              <a:t>.</a:t>
            </a:r>
            <a:endParaRPr lang="en-TH" dirty="0"/>
          </a:p>
        </p:txBody>
      </p:sp>
      <p:pic>
        <p:nvPicPr>
          <p:cNvPr id="5" name="Picture 4" descr="Background pattern&#10;&#10;Description automatically generated">
            <a:extLst>
              <a:ext uri="{FF2B5EF4-FFF2-40B4-BE49-F238E27FC236}">
                <a16:creationId xmlns:a16="http://schemas.microsoft.com/office/drawing/2014/main" id="{6C50A106-23A1-F04F-9709-B93D18221E01}"/>
              </a:ext>
            </a:extLst>
          </p:cNvPr>
          <p:cNvPicPr>
            <a:picLocks noChangeAspect="1"/>
          </p:cNvPicPr>
          <p:nvPr/>
        </p:nvPicPr>
        <p:blipFill>
          <a:blip r:embed="rId2"/>
          <a:stretch>
            <a:fillRect/>
          </a:stretch>
        </p:blipFill>
        <p:spPr>
          <a:xfrm>
            <a:off x="901700" y="1690688"/>
            <a:ext cx="10388600" cy="1600200"/>
          </a:xfrm>
          <a:prstGeom prst="rect">
            <a:avLst/>
          </a:prstGeom>
        </p:spPr>
      </p:pic>
      <p:pic>
        <p:nvPicPr>
          <p:cNvPr id="3074" name="Picture 2" descr="Python projects examples - get labels">
            <a:extLst>
              <a:ext uri="{FF2B5EF4-FFF2-40B4-BE49-F238E27FC236}">
                <a16:creationId xmlns:a16="http://schemas.microsoft.com/office/drawing/2014/main" id="{59C3F35E-AA50-C747-8EB7-C882B8AAB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3100" y="3567113"/>
            <a:ext cx="3225800" cy="238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257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BCC7-A937-BD48-89D3-0C3774E0E71F}"/>
              </a:ext>
            </a:extLst>
          </p:cNvPr>
          <p:cNvSpPr>
            <a:spLocks noGrp="1"/>
          </p:cNvSpPr>
          <p:nvPr>
            <p:ph type="title"/>
          </p:nvPr>
        </p:nvSpPr>
        <p:spPr>
          <a:xfrm>
            <a:off x="666750" y="379412"/>
            <a:ext cx="11177588" cy="1325563"/>
          </a:xfrm>
        </p:spPr>
        <p:txBody>
          <a:bodyPr/>
          <a:lstStyle/>
          <a:p>
            <a:r>
              <a:rPr lang="en-US" dirty="0"/>
              <a:t>4. Split the dataset into </a:t>
            </a:r>
            <a:r>
              <a:rPr lang="en-US" b="1" dirty="0">
                <a:solidFill>
                  <a:srgbClr val="FF0000"/>
                </a:solidFill>
              </a:rPr>
              <a:t>training</a:t>
            </a:r>
            <a:r>
              <a:rPr lang="en-US" dirty="0"/>
              <a:t> and </a:t>
            </a:r>
            <a:r>
              <a:rPr lang="en-US" b="1" dirty="0">
                <a:solidFill>
                  <a:srgbClr val="FF0000"/>
                </a:solidFill>
              </a:rPr>
              <a:t>testing</a:t>
            </a:r>
            <a:r>
              <a:rPr lang="en-US" b="1" dirty="0"/>
              <a:t> </a:t>
            </a:r>
            <a:r>
              <a:rPr lang="en-US" dirty="0"/>
              <a:t>sets.</a:t>
            </a:r>
            <a:endParaRPr lang="en-TH" dirty="0"/>
          </a:p>
        </p:txBody>
      </p:sp>
      <p:pic>
        <p:nvPicPr>
          <p:cNvPr id="5" name="Picture 4">
            <a:extLst>
              <a:ext uri="{FF2B5EF4-FFF2-40B4-BE49-F238E27FC236}">
                <a16:creationId xmlns:a16="http://schemas.microsoft.com/office/drawing/2014/main" id="{822AE307-D2D4-1847-BBE0-0C305E9F21F6}"/>
              </a:ext>
            </a:extLst>
          </p:cNvPr>
          <p:cNvPicPr>
            <a:picLocks noChangeAspect="1"/>
          </p:cNvPicPr>
          <p:nvPr/>
        </p:nvPicPr>
        <p:blipFill>
          <a:blip r:embed="rId2"/>
          <a:stretch>
            <a:fillRect/>
          </a:stretch>
        </p:blipFill>
        <p:spPr>
          <a:xfrm>
            <a:off x="1016000" y="1704975"/>
            <a:ext cx="10160000" cy="1231900"/>
          </a:xfrm>
          <a:prstGeom prst="rect">
            <a:avLst/>
          </a:prstGeom>
        </p:spPr>
      </p:pic>
      <p:pic>
        <p:nvPicPr>
          <p:cNvPr id="4098" name="Picture 2" descr="Python data science projects - split data sets">
            <a:extLst>
              <a:ext uri="{FF2B5EF4-FFF2-40B4-BE49-F238E27FC236}">
                <a16:creationId xmlns:a16="http://schemas.microsoft.com/office/drawing/2014/main" id="{AF90F283-A166-584A-BD5E-4236D314E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999" y="3563938"/>
            <a:ext cx="10159999" cy="736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247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6E9FB-E936-8A4B-AB24-7FA505E8B687}"/>
              </a:ext>
            </a:extLst>
          </p:cNvPr>
          <p:cNvSpPr>
            <a:spLocks noGrp="1"/>
          </p:cNvSpPr>
          <p:nvPr>
            <p:ph idx="1"/>
          </p:nvPr>
        </p:nvSpPr>
        <p:spPr>
          <a:xfrm>
            <a:off x="838200" y="1071563"/>
            <a:ext cx="10515600" cy="5105400"/>
          </a:xfrm>
        </p:spPr>
        <p:txBody>
          <a:bodyPr/>
          <a:lstStyle/>
          <a:p>
            <a:pPr fontAlgn="base"/>
            <a:r>
              <a:rPr lang="en-US" dirty="0"/>
              <a:t>5. Let’s initialize a </a:t>
            </a:r>
            <a:r>
              <a:rPr lang="en-US" dirty="0">
                <a:hlinkClick r:id="rId2"/>
              </a:rPr>
              <a:t>TfidfVectorizer</a:t>
            </a:r>
            <a:r>
              <a:rPr lang="en-US" dirty="0"/>
              <a:t> with stop words from the English language and a maximum document frequency of 0.7 (terms with a higher document frequency will be discarded). Stop words are the most common words in a language that are to be filtered out before processing the natural language data. And a </a:t>
            </a:r>
            <a:r>
              <a:rPr lang="en-US" dirty="0" err="1"/>
              <a:t>TfidfVectorizer</a:t>
            </a:r>
            <a:r>
              <a:rPr lang="en-US" dirty="0"/>
              <a:t> turns a collection of raw documents into a matrix of TF-IDF features.</a:t>
            </a:r>
          </a:p>
          <a:p>
            <a:pPr fontAlgn="base"/>
            <a:endParaRPr lang="en-US" dirty="0"/>
          </a:p>
          <a:p>
            <a:pPr marL="0" indent="0" fontAlgn="base">
              <a:buNone/>
            </a:pPr>
            <a:endParaRPr lang="en-US" dirty="0"/>
          </a:p>
          <a:p>
            <a:pPr marL="0" indent="0">
              <a:buNone/>
            </a:pPr>
            <a:endParaRPr lang="en-TH" dirty="0"/>
          </a:p>
        </p:txBody>
      </p:sp>
    </p:spTree>
    <p:extLst>
      <p:ext uri="{BB962C8B-B14F-4D97-AF65-F5344CB8AC3E}">
        <p14:creationId xmlns:p14="http://schemas.microsoft.com/office/powerpoint/2010/main" val="3395229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B786-8483-EF4B-A7CA-862320D10264}"/>
              </a:ext>
            </a:extLst>
          </p:cNvPr>
          <p:cNvSpPr>
            <a:spLocks noGrp="1"/>
          </p:cNvSpPr>
          <p:nvPr>
            <p:ph type="title"/>
          </p:nvPr>
        </p:nvSpPr>
        <p:spPr>
          <a:xfrm>
            <a:off x="838200" y="479425"/>
            <a:ext cx="10515600" cy="1325563"/>
          </a:xfrm>
        </p:spPr>
        <p:txBody>
          <a:bodyPr>
            <a:normAutofit fontScale="90000"/>
          </a:bodyPr>
          <a:lstStyle/>
          <a:p>
            <a:r>
              <a:rPr lang="en-US" dirty="0"/>
              <a:t>Now, fit and transform the vectorizer on the train set, and transform the vectorizer on the test set.</a:t>
            </a:r>
            <a:endParaRPr lang="en-TH" dirty="0"/>
          </a:p>
        </p:txBody>
      </p:sp>
      <p:pic>
        <p:nvPicPr>
          <p:cNvPr id="6" name="Picture 5" descr="Graphical user interface, application&#10;&#10;Description automatically generated">
            <a:extLst>
              <a:ext uri="{FF2B5EF4-FFF2-40B4-BE49-F238E27FC236}">
                <a16:creationId xmlns:a16="http://schemas.microsoft.com/office/drawing/2014/main" id="{69B8711B-7DAC-A347-8124-1DAC4FC1110A}"/>
              </a:ext>
            </a:extLst>
          </p:cNvPr>
          <p:cNvPicPr>
            <a:picLocks noChangeAspect="1"/>
          </p:cNvPicPr>
          <p:nvPr/>
        </p:nvPicPr>
        <p:blipFill>
          <a:blip r:embed="rId2"/>
          <a:stretch>
            <a:fillRect/>
          </a:stretch>
        </p:blipFill>
        <p:spPr>
          <a:xfrm>
            <a:off x="971550" y="2349500"/>
            <a:ext cx="10248900" cy="2159000"/>
          </a:xfrm>
          <a:prstGeom prst="rect">
            <a:avLst/>
          </a:prstGeom>
        </p:spPr>
      </p:pic>
    </p:spTree>
    <p:extLst>
      <p:ext uri="{BB962C8B-B14F-4D97-AF65-F5344CB8AC3E}">
        <p14:creationId xmlns:p14="http://schemas.microsoft.com/office/powerpoint/2010/main" val="1775980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07EC-2C55-BE46-9285-F1AE6864EC1E}"/>
              </a:ext>
            </a:extLst>
          </p:cNvPr>
          <p:cNvSpPr>
            <a:spLocks noGrp="1"/>
          </p:cNvSpPr>
          <p:nvPr>
            <p:ph type="title"/>
          </p:nvPr>
        </p:nvSpPr>
        <p:spPr>
          <a:xfrm>
            <a:off x="838200" y="950912"/>
            <a:ext cx="10515600" cy="1325563"/>
          </a:xfrm>
        </p:spPr>
        <p:txBody>
          <a:bodyPr>
            <a:normAutofit/>
          </a:bodyPr>
          <a:lstStyle/>
          <a:p>
            <a:r>
              <a:rPr lang="en-US" sz="3000" dirty="0"/>
              <a:t>6. Next, we’ll initialize a </a:t>
            </a:r>
            <a:r>
              <a:rPr lang="en-US" sz="3000" dirty="0" err="1"/>
              <a:t>PassiveAggressiveClassifier</a:t>
            </a:r>
            <a:r>
              <a:rPr lang="en-US" sz="3000" dirty="0"/>
              <a:t>. </a:t>
            </a:r>
            <a:br>
              <a:rPr lang="en-US" sz="3000" dirty="0"/>
            </a:br>
            <a:r>
              <a:rPr lang="en-US" sz="3000" dirty="0"/>
              <a:t>This is. We’ll fit this on </a:t>
            </a:r>
            <a:r>
              <a:rPr lang="en-US" sz="3000" b="1" dirty="0" err="1">
                <a:solidFill>
                  <a:srgbClr val="FF0000"/>
                </a:solidFill>
              </a:rPr>
              <a:t>tfidf_train</a:t>
            </a:r>
            <a:r>
              <a:rPr lang="en-US" sz="3000" b="1" dirty="0">
                <a:solidFill>
                  <a:srgbClr val="FF0000"/>
                </a:solidFill>
              </a:rPr>
              <a:t> </a:t>
            </a:r>
            <a:r>
              <a:rPr lang="en-US" sz="3000" dirty="0"/>
              <a:t>and </a:t>
            </a:r>
            <a:r>
              <a:rPr lang="en-US" sz="3000" b="1" dirty="0" err="1">
                <a:solidFill>
                  <a:srgbClr val="FF0000"/>
                </a:solidFill>
              </a:rPr>
              <a:t>y_train</a:t>
            </a:r>
            <a:r>
              <a:rPr lang="en-US" sz="3000" dirty="0"/>
              <a:t>.</a:t>
            </a:r>
            <a:endParaRPr lang="en-TH" sz="3000" dirty="0"/>
          </a:p>
        </p:txBody>
      </p:sp>
      <p:sp>
        <p:nvSpPr>
          <p:cNvPr id="3" name="Content Placeholder 2">
            <a:extLst>
              <a:ext uri="{FF2B5EF4-FFF2-40B4-BE49-F238E27FC236}">
                <a16:creationId xmlns:a16="http://schemas.microsoft.com/office/drawing/2014/main" id="{C674FB74-41E0-724A-BDAE-D9D36601CC05}"/>
              </a:ext>
            </a:extLst>
          </p:cNvPr>
          <p:cNvSpPr>
            <a:spLocks noGrp="1"/>
          </p:cNvSpPr>
          <p:nvPr>
            <p:ph idx="1"/>
          </p:nvPr>
        </p:nvSpPr>
        <p:spPr>
          <a:xfrm>
            <a:off x="838200" y="2408873"/>
            <a:ext cx="10515600" cy="1111567"/>
          </a:xfrm>
        </p:spPr>
        <p:txBody>
          <a:bodyPr/>
          <a:lstStyle/>
          <a:p>
            <a:pPr fontAlgn="base"/>
            <a:r>
              <a:rPr lang="en-US" dirty="0"/>
              <a:t>Then, we’ll predict on the test set from the </a:t>
            </a:r>
            <a:r>
              <a:rPr lang="en-US" b="1" dirty="0" err="1">
                <a:solidFill>
                  <a:srgbClr val="FF0000"/>
                </a:solidFill>
              </a:rPr>
              <a:t>TfidfVectorizer</a:t>
            </a:r>
            <a:r>
              <a:rPr lang="en-US" dirty="0"/>
              <a:t> and calculate the accuracy with </a:t>
            </a:r>
            <a:r>
              <a:rPr lang="en-US" b="1" dirty="0" err="1">
                <a:solidFill>
                  <a:srgbClr val="FF0000"/>
                </a:solidFill>
              </a:rPr>
              <a:t>accuracy_score</a:t>
            </a:r>
            <a:r>
              <a:rPr lang="en-US" b="1" dirty="0">
                <a:solidFill>
                  <a:srgbClr val="FF0000"/>
                </a:solidFill>
              </a:rPr>
              <a:t>() </a:t>
            </a:r>
            <a:r>
              <a:rPr lang="en-US" dirty="0"/>
              <a:t>from </a:t>
            </a:r>
            <a:r>
              <a:rPr lang="en-US" b="1" dirty="0" err="1">
                <a:solidFill>
                  <a:srgbClr val="FF0000"/>
                </a:solidFill>
              </a:rPr>
              <a:t>sklearn.metrics</a:t>
            </a:r>
            <a:r>
              <a:rPr lang="en-US" dirty="0"/>
              <a:t>.</a:t>
            </a:r>
          </a:p>
          <a:p>
            <a:endParaRPr lang="en-TH" dirty="0"/>
          </a:p>
        </p:txBody>
      </p:sp>
      <p:pic>
        <p:nvPicPr>
          <p:cNvPr id="6" name="Picture 5" descr="Graphical user interface, application, Teams&#10;&#10;Description automatically generated">
            <a:extLst>
              <a:ext uri="{FF2B5EF4-FFF2-40B4-BE49-F238E27FC236}">
                <a16:creationId xmlns:a16="http://schemas.microsoft.com/office/drawing/2014/main" id="{7D774508-05D9-DF4E-8EC8-EBD33E11CC3E}"/>
              </a:ext>
            </a:extLst>
          </p:cNvPr>
          <p:cNvPicPr>
            <a:picLocks noChangeAspect="1"/>
          </p:cNvPicPr>
          <p:nvPr/>
        </p:nvPicPr>
        <p:blipFill>
          <a:blip r:embed="rId2"/>
          <a:stretch>
            <a:fillRect/>
          </a:stretch>
        </p:blipFill>
        <p:spPr>
          <a:xfrm>
            <a:off x="977900" y="3652838"/>
            <a:ext cx="10236200" cy="2603500"/>
          </a:xfrm>
          <a:prstGeom prst="rect">
            <a:avLst/>
          </a:prstGeom>
        </p:spPr>
      </p:pic>
    </p:spTree>
    <p:extLst>
      <p:ext uri="{BB962C8B-B14F-4D97-AF65-F5344CB8AC3E}">
        <p14:creationId xmlns:p14="http://schemas.microsoft.com/office/powerpoint/2010/main" val="3480312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ython machine learning projects">
            <a:extLst>
              <a:ext uri="{FF2B5EF4-FFF2-40B4-BE49-F238E27FC236}">
                <a16:creationId xmlns:a16="http://schemas.microsoft.com/office/drawing/2014/main" id="{46F73029-C2D1-8C4C-A9E6-985637B04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039" y="1085851"/>
            <a:ext cx="10295922" cy="3847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582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5600-DB40-6F4A-9DB5-65E57E801326}"/>
              </a:ext>
            </a:extLst>
          </p:cNvPr>
          <p:cNvSpPr>
            <a:spLocks noGrp="1"/>
          </p:cNvSpPr>
          <p:nvPr>
            <p:ph type="title"/>
          </p:nvPr>
        </p:nvSpPr>
        <p:spPr/>
        <p:txBody>
          <a:bodyPr>
            <a:noAutofit/>
          </a:bodyPr>
          <a:lstStyle/>
          <a:p>
            <a:r>
              <a:rPr lang="en-US" sz="2000" dirty="0"/>
              <a:t>7. We got an accuracy of 92.82% with this model. Finally, let’s print out a confusion matrix to gain insight into the number of false and true negatives and positives.</a:t>
            </a:r>
            <a:endParaRPr lang="en-TH" sz="2000" dirty="0"/>
          </a:p>
        </p:txBody>
      </p:sp>
      <p:sp>
        <p:nvSpPr>
          <p:cNvPr id="4" name="Rectangle 3">
            <a:extLst>
              <a:ext uri="{FF2B5EF4-FFF2-40B4-BE49-F238E27FC236}">
                <a16:creationId xmlns:a16="http://schemas.microsoft.com/office/drawing/2014/main" id="{CA08CFB7-1E63-E941-AD00-6E2ACDBEC987}"/>
              </a:ext>
            </a:extLst>
          </p:cNvPr>
          <p:cNvSpPr/>
          <p:nvPr/>
        </p:nvSpPr>
        <p:spPr>
          <a:xfrm>
            <a:off x="838200" y="4746040"/>
            <a:ext cx="10271760" cy="1938992"/>
          </a:xfrm>
          <a:prstGeom prst="rect">
            <a:avLst/>
          </a:prstGeom>
        </p:spPr>
        <p:txBody>
          <a:bodyPr wrap="square">
            <a:spAutoFit/>
          </a:bodyPr>
          <a:lstStyle/>
          <a:p>
            <a:r>
              <a:rPr lang="en-US" sz="2000" b="0" i="0" dirty="0">
                <a:solidFill>
                  <a:srgbClr val="444444"/>
                </a:solidFill>
                <a:effectLst/>
                <a:latin typeface="Georgia" panose="02040502050405020303" pitchFamily="18" charset="0"/>
              </a:rPr>
              <a:t>So with this model, we have</a:t>
            </a:r>
          </a:p>
          <a:p>
            <a:r>
              <a:rPr lang="en-US" sz="2000" b="0" i="0" dirty="0">
                <a:solidFill>
                  <a:srgbClr val="444444"/>
                </a:solidFill>
                <a:effectLst/>
                <a:latin typeface="Georgia" panose="02040502050405020303" pitchFamily="18" charset="0"/>
              </a:rPr>
              <a:t> </a:t>
            </a:r>
          </a:p>
          <a:p>
            <a:r>
              <a:rPr lang="en-US" sz="2000" b="1" i="0" dirty="0">
                <a:solidFill>
                  <a:srgbClr val="FF0000"/>
                </a:solidFill>
                <a:effectLst/>
                <a:latin typeface="TH Sarabun New" panose="020B0500040200020003" pitchFamily="34" charset="-34"/>
                <a:cs typeface="TH Sarabun New" panose="020B0500040200020003" pitchFamily="34" charset="-34"/>
              </a:rPr>
              <a:t>589 true positives, </a:t>
            </a:r>
          </a:p>
          <a:p>
            <a:r>
              <a:rPr lang="en-US" sz="2000" b="1" i="0" dirty="0">
                <a:solidFill>
                  <a:srgbClr val="FF0000"/>
                </a:solidFill>
                <a:effectLst/>
                <a:latin typeface="TH Sarabun New" panose="020B0500040200020003" pitchFamily="34" charset="-34"/>
                <a:cs typeface="TH Sarabun New" panose="020B0500040200020003" pitchFamily="34" charset="-34"/>
              </a:rPr>
              <a:t>587 true negatives, </a:t>
            </a:r>
          </a:p>
          <a:p>
            <a:r>
              <a:rPr lang="en-US" sz="2000" b="1" i="0" dirty="0">
                <a:solidFill>
                  <a:srgbClr val="FF0000"/>
                </a:solidFill>
                <a:effectLst/>
                <a:latin typeface="TH Sarabun New" panose="020B0500040200020003" pitchFamily="34" charset="-34"/>
                <a:cs typeface="TH Sarabun New" panose="020B0500040200020003" pitchFamily="34" charset="-34"/>
              </a:rPr>
              <a:t>42 false positives, </a:t>
            </a:r>
          </a:p>
          <a:p>
            <a:r>
              <a:rPr lang="en-US" sz="2000" b="1" i="0" dirty="0">
                <a:solidFill>
                  <a:srgbClr val="FF0000"/>
                </a:solidFill>
                <a:effectLst/>
                <a:latin typeface="TH Sarabun New" panose="020B0500040200020003" pitchFamily="34" charset="-34"/>
                <a:cs typeface="TH Sarabun New" panose="020B0500040200020003" pitchFamily="34" charset="-34"/>
              </a:rPr>
              <a:t>49 false negatives.</a:t>
            </a:r>
            <a:endParaRPr lang="en-TH" sz="2000" b="1" dirty="0">
              <a:solidFill>
                <a:srgbClr val="FF0000"/>
              </a:solidFill>
              <a:latin typeface="TH Sarabun New" panose="020B0500040200020003" pitchFamily="34" charset="-34"/>
              <a:cs typeface="TH Sarabun New" panose="020B0500040200020003" pitchFamily="34" charset="-34"/>
            </a:endParaRPr>
          </a:p>
        </p:txBody>
      </p:sp>
      <p:pic>
        <p:nvPicPr>
          <p:cNvPr id="6" name="Picture 5" descr="Graphical user interface, text, application, email&#10;&#10;Description automatically generated">
            <a:extLst>
              <a:ext uri="{FF2B5EF4-FFF2-40B4-BE49-F238E27FC236}">
                <a16:creationId xmlns:a16="http://schemas.microsoft.com/office/drawing/2014/main" id="{B92E7776-27BC-5644-8F00-D356913ED759}"/>
              </a:ext>
            </a:extLst>
          </p:cNvPr>
          <p:cNvPicPr>
            <a:picLocks noChangeAspect="1"/>
          </p:cNvPicPr>
          <p:nvPr/>
        </p:nvPicPr>
        <p:blipFill>
          <a:blip r:embed="rId2"/>
          <a:stretch>
            <a:fillRect/>
          </a:stretch>
        </p:blipFill>
        <p:spPr>
          <a:xfrm>
            <a:off x="2533693" y="1531353"/>
            <a:ext cx="7124613" cy="2900362"/>
          </a:xfrm>
          <a:prstGeom prst="rect">
            <a:avLst/>
          </a:prstGeom>
        </p:spPr>
      </p:pic>
    </p:spTree>
    <p:extLst>
      <p:ext uri="{BB962C8B-B14F-4D97-AF65-F5344CB8AC3E}">
        <p14:creationId xmlns:p14="http://schemas.microsoft.com/office/powerpoint/2010/main" val="1854615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AC78D5-D610-4347-838E-47BCAF10BB6C}"/>
              </a:ext>
            </a:extLst>
          </p:cNvPr>
          <p:cNvSpPr>
            <a:spLocks noGrp="1"/>
          </p:cNvSpPr>
          <p:nvPr>
            <p:ph type="title"/>
          </p:nvPr>
        </p:nvSpPr>
        <p:spPr>
          <a:xfrm>
            <a:off x="643467" y="1698171"/>
            <a:ext cx="3962061" cy="4516360"/>
          </a:xfrm>
        </p:spPr>
        <p:txBody>
          <a:bodyPr anchor="t">
            <a:normAutofit/>
          </a:bodyPr>
          <a:lstStyle/>
          <a:p>
            <a:r>
              <a:rPr lang="en-US" sz="3600"/>
              <a:t>Summary</a:t>
            </a:r>
            <a:endParaRPr lang="en-TH" sz="3600"/>
          </a:p>
        </p:txBody>
      </p:sp>
      <p:sp>
        <p:nvSpPr>
          <p:cNvPr id="10" name="Rectangle 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B481C13-DE96-AB4D-AA0C-F51E8020C07A}"/>
              </a:ext>
            </a:extLst>
          </p:cNvPr>
          <p:cNvSpPr>
            <a:spLocks noGrp="1"/>
          </p:cNvSpPr>
          <p:nvPr>
            <p:ph idx="1"/>
          </p:nvPr>
        </p:nvSpPr>
        <p:spPr>
          <a:xfrm>
            <a:off x="5070020" y="1698170"/>
            <a:ext cx="6478513" cy="4516361"/>
          </a:xfrm>
        </p:spPr>
        <p:txBody>
          <a:bodyPr>
            <a:normAutofit/>
          </a:bodyPr>
          <a:lstStyle/>
          <a:p>
            <a:pPr fontAlgn="base"/>
            <a:r>
              <a:rPr lang="en-US" sz="2000"/>
              <a:t>Today, we learned to detect fake news with Python. We took a political dataset, implemented a TfidfVectorizer, initialized a PassiveAggressiveClassifier, and fit our model. We ended up obtaining an accuracy of 92.82% in magnitude.</a:t>
            </a:r>
          </a:p>
          <a:p>
            <a:pPr fontAlgn="base"/>
            <a:r>
              <a:rPr lang="en-US" sz="2000"/>
              <a:t>Hope you enjoyed our first advanced level Python Project. Keep visiting DataFlair for more interesting Python data science and machine learning projects.</a:t>
            </a:r>
          </a:p>
          <a:p>
            <a:endParaRPr lang="en-TH" sz="2000"/>
          </a:p>
        </p:txBody>
      </p:sp>
      <p:sp>
        <p:nvSpPr>
          <p:cNvPr id="18" name="Isosceles Triangle 1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02789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7A6FE3-F24D-DE4F-8676-A0C6F2DEC928}"/>
              </a:ext>
            </a:extLst>
          </p:cNvPr>
          <p:cNvSpPr>
            <a:spLocks noGrp="1"/>
          </p:cNvSpPr>
          <p:nvPr>
            <p:ph type="title"/>
          </p:nvPr>
        </p:nvSpPr>
        <p:spPr>
          <a:xfrm>
            <a:off x="621792" y="1161288"/>
            <a:ext cx="3602736" cy="4526280"/>
          </a:xfrm>
        </p:spPr>
        <p:txBody>
          <a:bodyPr>
            <a:normAutofit/>
          </a:bodyPr>
          <a:lstStyle/>
          <a:p>
            <a:r>
              <a:rPr lang="en-TH" sz="4000"/>
              <a:t>Reference</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1E4F93C-6CDF-FF49-B34F-04F018CFCB89}"/>
              </a:ext>
            </a:extLst>
          </p:cNvPr>
          <p:cNvSpPr>
            <a:spLocks noGrp="1"/>
          </p:cNvSpPr>
          <p:nvPr>
            <p:ph idx="1"/>
          </p:nvPr>
        </p:nvSpPr>
        <p:spPr>
          <a:xfrm>
            <a:off x="5434149" y="932688"/>
            <a:ext cx="5916603" cy="4992624"/>
          </a:xfrm>
        </p:spPr>
        <p:txBody>
          <a:bodyPr anchor="ctr">
            <a:normAutofit/>
          </a:bodyPr>
          <a:lstStyle/>
          <a:p>
            <a:r>
              <a:rPr lang="en-US" sz="2000"/>
              <a:t>https://data-flair.training/blogs/advanced-python-project-detecting-fake-news/</a:t>
            </a:r>
            <a:endParaRPr lang="en-TH" sz="2000"/>
          </a:p>
        </p:txBody>
      </p:sp>
    </p:spTree>
    <p:extLst>
      <p:ext uri="{BB962C8B-B14F-4D97-AF65-F5344CB8AC3E}">
        <p14:creationId xmlns:p14="http://schemas.microsoft.com/office/powerpoint/2010/main" val="3174947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796</Words>
  <Application>Microsoft Macintosh PowerPoint</Application>
  <PresentationFormat>Widescreen</PresentationFormat>
  <Paragraphs>39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Georgia</vt:lpstr>
      <vt:lpstr>TH Sarabun New</vt:lpstr>
      <vt:lpstr>Office Theme</vt:lpstr>
      <vt:lpstr>Detecting Fake News  with Python</vt:lpstr>
      <vt:lpstr>What is Fake News?</vt:lpstr>
      <vt:lpstr>What is a TfidfVectorizer?</vt:lpstr>
      <vt:lpstr>What is a PassiveAggressiveClassifier?</vt:lpstr>
      <vt:lpstr>Detecting Fake News with Python  – Objective</vt:lpstr>
      <vt:lpstr>Detecting Fake News with Python  – About the Python Project</vt:lpstr>
      <vt:lpstr>The Dataset</vt:lpstr>
      <vt:lpstr>Advanced Python Project  – Prerequisites</vt:lpstr>
      <vt:lpstr>Steps for detecting fake news with Python</vt:lpstr>
      <vt:lpstr>PowerPoint Presentation</vt:lpstr>
      <vt:lpstr>Now, let’s read the data into a DataFrame, and get the shape of the data and the first 5 records.</vt:lpstr>
      <vt:lpstr>PowerPoint Presentation</vt:lpstr>
      <vt:lpstr>3. And get the labels from the DataFrame.</vt:lpstr>
      <vt:lpstr>4. Split the dataset into training and testing sets.</vt:lpstr>
      <vt:lpstr>PowerPoint Presentation</vt:lpstr>
      <vt:lpstr>Now, fit and transform the vectorizer on the train set, and transform the vectorizer on the test set.</vt:lpstr>
      <vt:lpstr>6. Next, we’ll initialize a PassiveAggressiveClassifier.  This is. We’ll fit this on tfidf_train and y_train.</vt:lpstr>
      <vt:lpstr>PowerPoint Presentation</vt:lpstr>
      <vt:lpstr>7. We got an accuracy of 92.82% with this model. Finally, let’s print out a confusion matrix to gain insight into the number of false and true negatives and positives.</vt:lpstr>
      <vt:lpstr>Summary</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Fake News  with Python</dc:title>
  <dc:creator>Suttipong Kullawattana</dc:creator>
  <cp:lastModifiedBy>Suttipong Kullawattana</cp:lastModifiedBy>
  <cp:revision>1</cp:revision>
  <dcterms:created xsi:type="dcterms:W3CDTF">2020-12-27T08:15:24Z</dcterms:created>
  <dcterms:modified xsi:type="dcterms:W3CDTF">2020-12-27T08:15:30Z</dcterms:modified>
</cp:coreProperties>
</file>